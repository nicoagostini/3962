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817" r:id="rId1"/>
  </p:sldMasterIdLst>
  <p:notesMasterIdLst>
    <p:notesMasterId r:id="rId18"/>
  </p:notesMasterIdLst>
  <p:sldIdLst>
    <p:sldId id="328" r:id="rId2"/>
    <p:sldId id="277" r:id="rId3"/>
    <p:sldId id="332" r:id="rId4"/>
    <p:sldId id="334" r:id="rId5"/>
    <p:sldId id="276" r:id="rId6"/>
    <p:sldId id="329" r:id="rId7"/>
    <p:sldId id="278" r:id="rId8"/>
    <p:sldId id="279" r:id="rId9"/>
    <p:sldId id="280" r:id="rId10"/>
    <p:sldId id="281" r:id="rId11"/>
    <p:sldId id="331" r:id="rId12"/>
    <p:sldId id="335" r:id="rId13"/>
    <p:sldId id="339" r:id="rId14"/>
    <p:sldId id="330" r:id="rId15"/>
    <p:sldId id="336" r:id="rId16"/>
    <p:sldId id="275" r:id="rId17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16530"/>
    <a:srgbClr val="8BC145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8799B23B-EC83-4686-B30A-512413B5E67A}" styleName="Light Style 3 - Accent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7774"/>
    <p:restoredTop sz="88231"/>
  </p:normalViewPr>
  <p:slideViewPr>
    <p:cSldViewPr snapToGrid="0" snapToObjects="1">
      <p:cViewPr varScale="1">
        <p:scale>
          <a:sx n="112" d="100"/>
          <a:sy n="112" d="100"/>
        </p:scale>
        <p:origin x="1616" y="1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3">
  <dgm:title val=""/>
  <dgm:desc val=""/>
  <dgm:catLst>
    <dgm:cat type="colorful" pri="10300"/>
  </dgm:catLst>
  <dgm:styleLbl name="node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3"/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3"/>
      <a:schemeClr val="accent4"/>
    </dgm:fillClrLst>
    <dgm:linClrLst>
      <a:schemeClr val="accent3"/>
      <a:schemeClr val="accent4"/>
    </dgm:linClrLst>
    <dgm:effectClrLst/>
    <dgm:txLinClrLst/>
    <dgm:txFillClrLst/>
    <dgm:txEffectClrLst/>
  </dgm:styleLbl>
  <dgm:styleLbl name="lnNode1">
    <dgm:fillClrLst>
      <a:schemeClr val="accent3"/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3">
        <a:alpha val="50000"/>
      </a:schemeClr>
      <a:schemeClr val="accent4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3">
        <a:tint val="50000"/>
      </a:schemeClr>
      <a:schemeClr val="accent4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3">
        <a:tint val="50000"/>
      </a:schemeClr>
      <a:schemeClr val="accent4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3">
        <a:tint val="50000"/>
      </a:schemeClr>
      <a:schemeClr val="accent4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3"/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3"/>
      <a:schemeClr val="accent4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3"/>
      <a:schemeClr val="accent4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3"/>
      <a:schemeClr val="accent4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3"/>
    </dgm:fillClrLst>
    <dgm:linClrLst meth="repeat">
      <a:schemeClr val="accent3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4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3">
        <a:tint val="40000"/>
        <a:alpha val="90000"/>
      </a:schemeClr>
      <a:schemeClr val="accent4">
        <a:tint val="40000"/>
        <a:alpha val="90000"/>
      </a:schemeClr>
    </dgm:fillClrLst>
    <dgm:linClrLst>
      <a:schemeClr val="accent3">
        <a:tint val="40000"/>
        <a:alpha val="90000"/>
      </a:schemeClr>
      <a:schemeClr val="accent4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3">
        <a:tint val="40000"/>
        <a:alpha val="90000"/>
      </a:schemeClr>
      <a:schemeClr val="accent4">
        <a:tint val="40000"/>
        <a:alpha val="90000"/>
      </a:schemeClr>
    </dgm:fillClrLst>
    <dgm:linClrLst>
      <a:schemeClr val="accent3">
        <a:tint val="40000"/>
        <a:alpha val="90000"/>
      </a:schemeClr>
      <a:schemeClr val="accent4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3">
        <a:tint val="40000"/>
        <a:alpha val="90000"/>
      </a:schemeClr>
      <a:schemeClr val="accent4">
        <a:tint val="40000"/>
        <a:alpha val="90000"/>
      </a:schemeClr>
    </dgm:fillClrLst>
    <dgm:linClrLst>
      <a:schemeClr val="accent3">
        <a:tint val="40000"/>
        <a:alpha val="90000"/>
      </a:schemeClr>
      <a:schemeClr val="accent4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3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3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3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78513B43-6857-45D4-8F63-C10C50C4AE34}" type="doc">
      <dgm:prSet loTypeId="urn:microsoft.com/office/officeart/2005/8/layout/list1" loCatId="list" qsTypeId="urn:microsoft.com/office/officeart/2005/8/quickstyle/simple1" qsCatId="simple" csTypeId="urn:microsoft.com/office/officeart/2005/8/colors/colorful3" csCatId="colorful"/>
      <dgm:spPr/>
      <dgm:t>
        <a:bodyPr/>
        <a:lstStyle/>
        <a:p>
          <a:endParaRPr lang="en-US"/>
        </a:p>
      </dgm:t>
    </dgm:pt>
    <dgm:pt modelId="{11F6D3FF-A7BB-4916-B610-BF1DBB44CD82}">
      <dgm:prSet/>
      <dgm:spPr/>
      <dgm:t>
        <a:bodyPr/>
        <a:lstStyle/>
        <a:p>
          <a:r>
            <a:rPr lang="en-US"/>
            <a:t>Pay as you go pricing model</a:t>
          </a:r>
        </a:p>
      </dgm:t>
    </dgm:pt>
    <dgm:pt modelId="{B664862E-5540-4151-9887-64493C93A31B}" type="parTrans" cxnId="{E3FAAA9E-1407-459D-9CDD-180632A6B6FB}">
      <dgm:prSet/>
      <dgm:spPr/>
      <dgm:t>
        <a:bodyPr/>
        <a:lstStyle/>
        <a:p>
          <a:endParaRPr lang="en-US"/>
        </a:p>
      </dgm:t>
    </dgm:pt>
    <dgm:pt modelId="{D6083411-7F7F-4C66-8B55-CD6309956999}" type="sibTrans" cxnId="{E3FAAA9E-1407-459D-9CDD-180632A6B6FB}">
      <dgm:prSet/>
      <dgm:spPr/>
      <dgm:t>
        <a:bodyPr/>
        <a:lstStyle/>
        <a:p>
          <a:endParaRPr lang="en-US"/>
        </a:p>
      </dgm:t>
    </dgm:pt>
    <dgm:pt modelId="{0ADAEA4B-064A-4FE3-80B3-BFEBBD55FF86}">
      <dgm:prSet/>
      <dgm:spPr/>
      <dgm:t>
        <a:bodyPr/>
        <a:lstStyle/>
        <a:p>
          <a:r>
            <a:rPr lang="en-US"/>
            <a:t>No contracts</a:t>
          </a:r>
        </a:p>
      </dgm:t>
    </dgm:pt>
    <dgm:pt modelId="{CD4B2A33-ED86-4A85-887D-E5D746E04A7F}" type="parTrans" cxnId="{291EEB4E-CCBB-45CA-A1B0-332A921E4030}">
      <dgm:prSet/>
      <dgm:spPr/>
      <dgm:t>
        <a:bodyPr/>
        <a:lstStyle/>
        <a:p>
          <a:endParaRPr lang="en-US"/>
        </a:p>
      </dgm:t>
    </dgm:pt>
    <dgm:pt modelId="{617C9551-44AC-4622-B2D6-B2949A778ED0}" type="sibTrans" cxnId="{291EEB4E-CCBB-45CA-A1B0-332A921E4030}">
      <dgm:prSet/>
      <dgm:spPr/>
      <dgm:t>
        <a:bodyPr/>
        <a:lstStyle/>
        <a:p>
          <a:endParaRPr lang="en-US"/>
        </a:p>
      </dgm:t>
    </dgm:pt>
    <dgm:pt modelId="{A61A7761-9822-4076-A886-156BD1D0DEDA}">
      <dgm:prSet/>
      <dgm:spPr/>
      <dgm:t>
        <a:bodyPr/>
        <a:lstStyle/>
        <a:p>
          <a:r>
            <a:rPr lang="en-US"/>
            <a:t>Great for:</a:t>
          </a:r>
        </a:p>
      </dgm:t>
    </dgm:pt>
    <dgm:pt modelId="{D480D636-A230-4D84-B034-6D81130B6706}" type="parTrans" cxnId="{659A0D1B-EDAC-4726-B922-3A43C4DD9570}">
      <dgm:prSet/>
      <dgm:spPr/>
      <dgm:t>
        <a:bodyPr/>
        <a:lstStyle/>
        <a:p>
          <a:endParaRPr lang="en-US"/>
        </a:p>
      </dgm:t>
    </dgm:pt>
    <dgm:pt modelId="{03675F6B-4E72-4FBF-AA2C-9B3C38BA5C70}" type="sibTrans" cxnId="{659A0D1B-EDAC-4726-B922-3A43C4DD9570}">
      <dgm:prSet/>
      <dgm:spPr/>
      <dgm:t>
        <a:bodyPr/>
        <a:lstStyle/>
        <a:p>
          <a:endParaRPr lang="en-US"/>
        </a:p>
      </dgm:t>
    </dgm:pt>
    <dgm:pt modelId="{8C5353A0-E624-4AB8-9731-0963B8ABDEBA}">
      <dgm:prSet/>
      <dgm:spPr/>
      <dgm:t>
        <a:bodyPr/>
        <a:lstStyle/>
        <a:p>
          <a:r>
            <a:rPr lang="en-US"/>
            <a:t>Workload uncertainty</a:t>
          </a:r>
        </a:p>
      </dgm:t>
    </dgm:pt>
    <dgm:pt modelId="{9399441E-0514-4DFF-8776-4D7B15CC6ACC}" type="parTrans" cxnId="{B1AA520B-6A52-44F5-809C-C29C0F54B986}">
      <dgm:prSet/>
      <dgm:spPr/>
      <dgm:t>
        <a:bodyPr/>
        <a:lstStyle/>
        <a:p>
          <a:endParaRPr lang="en-US"/>
        </a:p>
      </dgm:t>
    </dgm:pt>
    <dgm:pt modelId="{95C7A168-B143-4AE0-8672-4A2F6A65D69A}" type="sibTrans" cxnId="{B1AA520B-6A52-44F5-809C-C29C0F54B986}">
      <dgm:prSet/>
      <dgm:spPr/>
      <dgm:t>
        <a:bodyPr/>
        <a:lstStyle/>
        <a:p>
          <a:endParaRPr lang="en-US"/>
        </a:p>
      </dgm:t>
    </dgm:pt>
    <dgm:pt modelId="{881CB294-5399-45CD-B023-D52195F53E11}">
      <dgm:prSet/>
      <dgm:spPr/>
      <dgm:t>
        <a:bodyPr/>
        <a:lstStyle/>
        <a:p>
          <a:r>
            <a:rPr lang="en-US"/>
            <a:t>Commitment free usage</a:t>
          </a:r>
        </a:p>
      </dgm:t>
    </dgm:pt>
    <dgm:pt modelId="{58B7327C-ABCF-481B-B88A-66184F4CCEEA}" type="parTrans" cxnId="{BF6DBFA8-CCBF-4CFC-B764-36885D7ADC9E}">
      <dgm:prSet/>
      <dgm:spPr/>
      <dgm:t>
        <a:bodyPr/>
        <a:lstStyle/>
        <a:p>
          <a:endParaRPr lang="en-US"/>
        </a:p>
      </dgm:t>
    </dgm:pt>
    <dgm:pt modelId="{A60F189C-BC4E-4F54-AE1D-DE050C1A6DA4}" type="sibTrans" cxnId="{BF6DBFA8-CCBF-4CFC-B764-36885D7ADC9E}">
      <dgm:prSet/>
      <dgm:spPr/>
      <dgm:t>
        <a:bodyPr/>
        <a:lstStyle/>
        <a:p>
          <a:endParaRPr lang="en-US"/>
        </a:p>
      </dgm:t>
    </dgm:pt>
    <dgm:pt modelId="{A1EA5541-7C86-4B2B-B158-AD442D6E002B}">
      <dgm:prSet/>
      <dgm:spPr/>
      <dgm:t>
        <a:bodyPr/>
        <a:lstStyle/>
        <a:p>
          <a:r>
            <a:rPr lang="en-US"/>
            <a:t>Experimentation</a:t>
          </a:r>
        </a:p>
      </dgm:t>
    </dgm:pt>
    <dgm:pt modelId="{99FD01AC-37DF-4F76-BD4B-BACC986850C8}" type="parTrans" cxnId="{E3BC7D1C-659D-424E-A178-17DD1F9BA41D}">
      <dgm:prSet/>
      <dgm:spPr/>
      <dgm:t>
        <a:bodyPr/>
        <a:lstStyle/>
        <a:p>
          <a:endParaRPr lang="en-US"/>
        </a:p>
      </dgm:t>
    </dgm:pt>
    <dgm:pt modelId="{8C443069-24F3-47BE-B21D-DE254405449F}" type="sibTrans" cxnId="{E3BC7D1C-659D-424E-A178-17DD1F9BA41D}">
      <dgm:prSet/>
      <dgm:spPr/>
      <dgm:t>
        <a:bodyPr/>
        <a:lstStyle/>
        <a:p>
          <a:endParaRPr lang="en-US"/>
        </a:p>
      </dgm:t>
    </dgm:pt>
    <dgm:pt modelId="{7E2E3220-E523-4C3C-9C26-1461D7D2F645}">
      <dgm:prSet/>
      <dgm:spPr/>
      <dgm:t>
        <a:bodyPr/>
        <a:lstStyle/>
        <a:p>
          <a:r>
            <a:rPr lang="en-US"/>
            <a:t>The flexibility comes at a higher cost</a:t>
          </a:r>
        </a:p>
      </dgm:t>
    </dgm:pt>
    <dgm:pt modelId="{5FA6A504-6160-4C9D-9BAE-49ED8472E3B9}" type="parTrans" cxnId="{B5B3106B-23C6-4DC9-BD05-8ED8F02CE9FF}">
      <dgm:prSet/>
      <dgm:spPr/>
      <dgm:t>
        <a:bodyPr/>
        <a:lstStyle/>
        <a:p>
          <a:endParaRPr lang="en-US"/>
        </a:p>
      </dgm:t>
    </dgm:pt>
    <dgm:pt modelId="{860D7094-839B-45B0-8570-38F4277ABCA6}" type="sibTrans" cxnId="{B5B3106B-23C6-4DC9-BD05-8ED8F02CE9FF}">
      <dgm:prSet/>
      <dgm:spPr/>
      <dgm:t>
        <a:bodyPr/>
        <a:lstStyle/>
        <a:p>
          <a:endParaRPr lang="en-US"/>
        </a:p>
      </dgm:t>
    </dgm:pt>
    <dgm:pt modelId="{41E9E2D0-B4D0-F147-B37C-EA706DDE8895}" type="pres">
      <dgm:prSet presAssocID="{78513B43-6857-45D4-8F63-C10C50C4AE34}" presName="linear" presStyleCnt="0">
        <dgm:presLayoutVars>
          <dgm:dir/>
          <dgm:animLvl val="lvl"/>
          <dgm:resizeHandles val="exact"/>
        </dgm:presLayoutVars>
      </dgm:prSet>
      <dgm:spPr/>
    </dgm:pt>
    <dgm:pt modelId="{CB560DE6-C101-8948-BB4C-94063A5A05CE}" type="pres">
      <dgm:prSet presAssocID="{11F6D3FF-A7BB-4916-B610-BF1DBB44CD82}" presName="parentLin" presStyleCnt="0"/>
      <dgm:spPr/>
    </dgm:pt>
    <dgm:pt modelId="{58956215-702F-7849-8BC1-BFB2D16A625A}" type="pres">
      <dgm:prSet presAssocID="{11F6D3FF-A7BB-4916-B610-BF1DBB44CD82}" presName="parentLeftMargin" presStyleLbl="node1" presStyleIdx="0" presStyleCnt="4"/>
      <dgm:spPr/>
    </dgm:pt>
    <dgm:pt modelId="{F4A2C023-3FD4-404E-ACC3-0A26547C9445}" type="pres">
      <dgm:prSet presAssocID="{11F6D3FF-A7BB-4916-B610-BF1DBB44CD82}" presName="parentText" presStyleLbl="node1" presStyleIdx="0" presStyleCnt="4">
        <dgm:presLayoutVars>
          <dgm:chMax val="0"/>
          <dgm:bulletEnabled val="1"/>
        </dgm:presLayoutVars>
      </dgm:prSet>
      <dgm:spPr/>
    </dgm:pt>
    <dgm:pt modelId="{4FF97BB5-5D3A-B94E-A2B0-1AC7D2716AB2}" type="pres">
      <dgm:prSet presAssocID="{11F6D3FF-A7BB-4916-B610-BF1DBB44CD82}" presName="negativeSpace" presStyleCnt="0"/>
      <dgm:spPr/>
    </dgm:pt>
    <dgm:pt modelId="{EB0CDA9F-759C-B54D-B79B-3351A8CA6904}" type="pres">
      <dgm:prSet presAssocID="{11F6D3FF-A7BB-4916-B610-BF1DBB44CD82}" presName="childText" presStyleLbl="conFgAcc1" presStyleIdx="0" presStyleCnt="4">
        <dgm:presLayoutVars>
          <dgm:bulletEnabled val="1"/>
        </dgm:presLayoutVars>
      </dgm:prSet>
      <dgm:spPr/>
    </dgm:pt>
    <dgm:pt modelId="{2C1E854D-5D2B-A149-AD7F-D9035175C3DD}" type="pres">
      <dgm:prSet presAssocID="{D6083411-7F7F-4C66-8B55-CD6309956999}" presName="spaceBetweenRectangles" presStyleCnt="0"/>
      <dgm:spPr/>
    </dgm:pt>
    <dgm:pt modelId="{982C254F-6B49-9A41-B8A6-7F7835A71F36}" type="pres">
      <dgm:prSet presAssocID="{0ADAEA4B-064A-4FE3-80B3-BFEBBD55FF86}" presName="parentLin" presStyleCnt="0"/>
      <dgm:spPr/>
    </dgm:pt>
    <dgm:pt modelId="{E27D5721-B034-E548-ACF1-7A134731AEDE}" type="pres">
      <dgm:prSet presAssocID="{0ADAEA4B-064A-4FE3-80B3-BFEBBD55FF86}" presName="parentLeftMargin" presStyleLbl="node1" presStyleIdx="0" presStyleCnt="4"/>
      <dgm:spPr/>
    </dgm:pt>
    <dgm:pt modelId="{7BF5DBD9-2A4A-9345-96B1-A546572A591E}" type="pres">
      <dgm:prSet presAssocID="{0ADAEA4B-064A-4FE3-80B3-BFEBBD55FF86}" presName="parentText" presStyleLbl="node1" presStyleIdx="1" presStyleCnt="4">
        <dgm:presLayoutVars>
          <dgm:chMax val="0"/>
          <dgm:bulletEnabled val="1"/>
        </dgm:presLayoutVars>
      </dgm:prSet>
      <dgm:spPr/>
    </dgm:pt>
    <dgm:pt modelId="{10730570-80C9-404E-AB8F-663980E3DC1F}" type="pres">
      <dgm:prSet presAssocID="{0ADAEA4B-064A-4FE3-80B3-BFEBBD55FF86}" presName="negativeSpace" presStyleCnt="0"/>
      <dgm:spPr/>
    </dgm:pt>
    <dgm:pt modelId="{9B584298-AFDB-B142-B75A-323F16B72C1E}" type="pres">
      <dgm:prSet presAssocID="{0ADAEA4B-064A-4FE3-80B3-BFEBBD55FF86}" presName="childText" presStyleLbl="conFgAcc1" presStyleIdx="1" presStyleCnt="4">
        <dgm:presLayoutVars>
          <dgm:bulletEnabled val="1"/>
        </dgm:presLayoutVars>
      </dgm:prSet>
      <dgm:spPr/>
    </dgm:pt>
    <dgm:pt modelId="{D5039FBF-A2FC-6A49-97C1-7949F3FDE085}" type="pres">
      <dgm:prSet presAssocID="{617C9551-44AC-4622-B2D6-B2949A778ED0}" presName="spaceBetweenRectangles" presStyleCnt="0"/>
      <dgm:spPr/>
    </dgm:pt>
    <dgm:pt modelId="{9F563966-F558-7946-9094-29ECE378D507}" type="pres">
      <dgm:prSet presAssocID="{A61A7761-9822-4076-A886-156BD1D0DEDA}" presName="parentLin" presStyleCnt="0"/>
      <dgm:spPr/>
    </dgm:pt>
    <dgm:pt modelId="{8056D07C-DAE9-8F44-8F14-5F885D7086EF}" type="pres">
      <dgm:prSet presAssocID="{A61A7761-9822-4076-A886-156BD1D0DEDA}" presName="parentLeftMargin" presStyleLbl="node1" presStyleIdx="1" presStyleCnt="4"/>
      <dgm:spPr/>
    </dgm:pt>
    <dgm:pt modelId="{8043AA58-3EBA-E048-8BD2-27799AD1B4E3}" type="pres">
      <dgm:prSet presAssocID="{A61A7761-9822-4076-A886-156BD1D0DEDA}" presName="parentText" presStyleLbl="node1" presStyleIdx="2" presStyleCnt="4">
        <dgm:presLayoutVars>
          <dgm:chMax val="0"/>
          <dgm:bulletEnabled val="1"/>
        </dgm:presLayoutVars>
      </dgm:prSet>
      <dgm:spPr/>
    </dgm:pt>
    <dgm:pt modelId="{512B901B-4BF2-BC4F-97C5-79D11F571A12}" type="pres">
      <dgm:prSet presAssocID="{A61A7761-9822-4076-A886-156BD1D0DEDA}" presName="negativeSpace" presStyleCnt="0"/>
      <dgm:spPr/>
    </dgm:pt>
    <dgm:pt modelId="{6A998E3C-8D89-B149-B760-E0BF91B67AFA}" type="pres">
      <dgm:prSet presAssocID="{A61A7761-9822-4076-A886-156BD1D0DEDA}" presName="childText" presStyleLbl="conFgAcc1" presStyleIdx="2" presStyleCnt="4">
        <dgm:presLayoutVars>
          <dgm:bulletEnabled val="1"/>
        </dgm:presLayoutVars>
      </dgm:prSet>
      <dgm:spPr/>
    </dgm:pt>
    <dgm:pt modelId="{F0E3FDD4-CC79-D04B-88A4-BBE0847C8705}" type="pres">
      <dgm:prSet presAssocID="{03675F6B-4E72-4FBF-AA2C-9B3C38BA5C70}" presName="spaceBetweenRectangles" presStyleCnt="0"/>
      <dgm:spPr/>
    </dgm:pt>
    <dgm:pt modelId="{1C998310-7960-AB41-98C6-89F6BA8A187B}" type="pres">
      <dgm:prSet presAssocID="{7E2E3220-E523-4C3C-9C26-1461D7D2F645}" presName="parentLin" presStyleCnt="0"/>
      <dgm:spPr/>
    </dgm:pt>
    <dgm:pt modelId="{2D74DD47-1345-354C-986D-90699C26A0CB}" type="pres">
      <dgm:prSet presAssocID="{7E2E3220-E523-4C3C-9C26-1461D7D2F645}" presName="parentLeftMargin" presStyleLbl="node1" presStyleIdx="2" presStyleCnt="4"/>
      <dgm:spPr/>
    </dgm:pt>
    <dgm:pt modelId="{BD21DD54-AE5A-384F-89B0-2D9556A62D55}" type="pres">
      <dgm:prSet presAssocID="{7E2E3220-E523-4C3C-9C26-1461D7D2F645}" presName="parentText" presStyleLbl="node1" presStyleIdx="3" presStyleCnt="4">
        <dgm:presLayoutVars>
          <dgm:chMax val="0"/>
          <dgm:bulletEnabled val="1"/>
        </dgm:presLayoutVars>
      </dgm:prSet>
      <dgm:spPr/>
    </dgm:pt>
    <dgm:pt modelId="{32E340BC-85DA-8C40-BAD5-BED2B0205789}" type="pres">
      <dgm:prSet presAssocID="{7E2E3220-E523-4C3C-9C26-1461D7D2F645}" presName="negativeSpace" presStyleCnt="0"/>
      <dgm:spPr/>
    </dgm:pt>
    <dgm:pt modelId="{94B98082-55C1-964D-8A42-C4C622267D69}" type="pres">
      <dgm:prSet presAssocID="{7E2E3220-E523-4C3C-9C26-1461D7D2F645}" presName="childText" presStyleLbl="conFgAcc1" presStyleIdx="3" presStyleCnt="4">
        <dgm:presLayoutVars>
          <dgm:bulletEnabled val="1"/>
        </dgm:presLayoutVars>
      </dgm:prSet>
      <dgm:spPr/>
    </dgm:pt>
  </dgm:ptLst>
  <dgm:cxnLst>
    <dgm:cxn modelId="{B1AA520B-6A52-44F5-809C-C29C0F54B986}" srcId="{A61A7761-9822-4076-A886-156BD1D0DEDA}" destId="{8C5353A0-E624-4AB8-9731-0963B8ABDEBA}" srcOrd="0" destOrd="0" parTransId="{9399441E-0514-4DFF-8776-4D7B15CC6ACC}" sibTransId="{95C7A168-B143-4AE0-8672-4A2F6A65D69A}"/>
    <dgm:cxn modelId="{FE64F818-6C04-4C42-90F1-70C540989983}" type="presOf" srcId="{A61A7761-9822-4076-A886-156BD1D0DEDA}" destId="{8056D07C-DAE9-8F44-8F14-5F885D7086EF}" srcOrd="0" destOrd="0" presId="urn:microsoft.com/office/officeart/2005/8/layout/list1"/>
    <dgm:cxn modelId="{5D0A9119-06FC-0A42-8A88-02B310C3315D}" type="presOf" srcId="{11F6D3FF-A7BB-4916-B610-BF1DBB44CD82}" destId="{F4A2C023-3FD4-404E-ACC3-0A26547C9445}" srcOrd="1" destOrd="0" presId="urn:microsoft.com/office/officeart/2005/8/layout/list1"/>
    <dgm:cxn modelId="{659A0D1B-EDAC-4726-B922-3A43C4DD9570}" srcId="{78513B43-6857-45D4-8F63-C10C50C4AE34}" destId="{A61A7761-9822-4076-A886-156BD1D0DEDA}" srcOrd="2" destOrd="0" parTransId="{D480D636-A230-4D84-B034-6D81130B6706}" sibTransId="{03675F6B-4E72-4FBF-AA2C-9B3C38BA5C70}"/>
    <dgm:cxn modelId="{E3BC7D1C-659D-424E-A178-17DD1F9BA41D}" srcId="{A61A7761-9822-4076-A886-156BD1D0DEDA}" destId="{A1EA5541-7C86-4B2B-B158-AD442D6E002B}" srcOrd="2" destOrd="0" parTransId="{99FD01AC-37DF-4F76-BD4B-BACC986850C8}" sibTransId="{8C443069-24F3-47BE-B21D-DE254405449F}"/>
    <dgm:cxn modelId="{6D618D39-BC86-374E-9422-E3BE6986C25D}" type="presOf" srcId="{7E2E3220-E523-4C3C-9C26-1461D7D2F645}" destId="{BD21DD54-AE5A-384F-89B0-2D9556A62D55}" srcOrd="1" destOrd="0" presId="urn:microsoft.com/office/officeart/2005/8/layout/list1"/>
    <dgm:cxn modelId="{E5717B3C-CA57-C04C-92BB-94CFD605955B}" type="presOf" srcId="{A1EA5541-7C86-4B2B-B158-AD442D6E002B}" destId="{6A998E3C-8D89-B149-B760-E0BF91B67AFA}" srcOrd="0" destOrd="2" presId="urn:microsoft.com/office/officeart/2005/8/layout/list1"/>
    <dgm:cxn modelId="{A010A541-04A8-BD46-8ECB-330C4734CE1E}" type="presOf" srcId="{A61A7761-9822-4076-A886-156BD1D0DEDA}" destId="{8043AA58-3EBA-E048-8BD2-27799AD1B4E3}" srcOrd="1" destOrd="0" presId="urn:microsoft.com/office/officeart/2005/8/layout/list1"/>
    <dgm:cxn modelId="{291EEB4E-CCBB-45CA-A1B0-332A921E4030}" srcId="{78513B43-6857-45D4-8F63-C10C50C4AE34}" destId="{0ADAEA4B-064A-4FE3-80B3-BFEBBD55FF86}" srcOrd="1" destOrd="0" parTransId="{CD4B2A33-ED86-4A85-887D-E5D746E04A7F}" sibTransId="{617C9551-44AC-4622-B2D6-B2949A778ED0}"/>
    <dgm:cxn modelId="{7FA58353-DFED-7548-836B-D13736B99846}" type="presOf" srcId="{11F6D3FF-A7BB-4916-B610-BF1DBB44CD82}" destId="{58956215-702F-7849-8BC1-BFB2D16A625A}" srcOrd="0" destOrd="0" presId="urn:microsoft.com/office/officeart/2005/8/layout/list1"/>
    <dgm:cxn modelId="{38B30B59-8D44-614F-986C-579CCC77241F}" type="presOf" srcId="{0ADAEA4B-064A-4FE3-80B3-BFEBBD55FF86}" destId="{E27D5721-B034-E548-ACF1-7A134731AEDE}" srcOrd="0" destOrd="0" presId="urn:microsoft.com/office/officeart/2005/8/layout/list1"/>
    <dgm:cxn modelId="{3A53F860-E13D-8F41-828E-357D957ADF73}" type="presOf" srcId="{78513B43-6857-45D4-8F63-C10C50C4AE34}" destId="{41E9E2D0-B4D0-F147-B37C-EA706DDE8895}" srcOrd="0" destOrd="0" presId="urn:microsoft.com/office/officeart/2005/8/layout/list1"/>
    <dgm:cxn modelId="{31B1116A-C7F1-D14F-8CC4-C433951B1432}" type="presOf" srcId="{8C5353A0-E624-4AB8-9731-0963B8ABDEBA}" destId="{6A998E3C-8D89-B149-B760-E0BF91B67AFA}" srcOrd="0" destOrd="0" presId="urn:microsoft.com/office/officeart/2005/8/layout/list1"/>
    <dgm:cxn modelId="{9D0E546A-920C-DA4D-8AAB-CDF663354A4E}" type="presOf" srcId="{881CB294-5399-45CD-B023-D52195F53E11}" destId="{6A998E3C-8D89-B149-B760-E0BF91B67AFA}" srcOrd="0" destOrd="1" presId="urn:microsoft.com/office/officeart/2005/8/layout/list1"/>
    <dgm:cxn modelId="{B5B3106B-23C6-4DC9-BD05-8ED8F02CE9FF}" srcId="{78513B43-6857-45D4-8F63-C10C50C4AE34}" destId="{7E2E3220-E523-4C3C-9C26-1461D7D2F645}" srcOrd="3" destOrd="0" parTransId="{5FA6A504-6160-4C9D-9BAE-49ED8472E3B9}" sibTransId="{860D7094-839B-45B0-8570-38F4277ABCA6}"/>
    <dgm:cxn modelId="{E3FAAA9E-1407-459D-9CDD-180632A6B6FB}" srcId="{78513B43-6857-45D4-8F63-C10C50C4AE34}" destId="{11F6D3FF-A7BB-4916-B610-BF1DBB44CD82}" srcOrd="0" destOrd="0" parTransId="{B664862E-5540-4151-9887-64493C93A31B}" sibTransId="{D6083411-7F7F-4C66-8B55-CD6309956999}"/>
    <dgm:cxn modelId="{BF6DBFA8-CCBF-4CFC-B764-36885D7ADC9E}" srcId="{A61A7761-9822-4076-A886-156BD1D0DEDA}" destId="{881CB294-5399-45CD-B023-D52195F53E11}" srcOrd="1" destOrd="0" parTransId="{58B7327C-ABCF-481B-B88A-66184F4CCEEA}" sibTransId="{A60F189C-BC4E-4F54-AE1D-DE050C1A6DA4}"/>
    <dgm:cxn modelId="{142791C0-DE4A-2544-8935-056EDF363F7E}" type="presOf" srcId="{0ADAEA4B-064A-4FE3-80B3-BFEBBD55FF86}" destId="{7BF5DBD9-2A4A-9345-96B1-A546572A591E}" srcOrd="1" destOrd="0" presId="urn:microsoft.com/office/officeart/2005/8/layout/list1"/>
    <dgm:cxn modelId="{2B6480EF-A28E-054B-9462-99381BE38DB8}" type="presOf" srcId="{7E2E3220-E523-4C3C-9C26-1461D7D2F645}" destId="{2D74DD47-1345-354C-986D-90699C26A0CB}" srcOrd="0" destOrd="0" presId="urn:microsoft.com/office/officeart/2005/8/layout/list1"/>
    <dgm:cxn modelId="{E0BE8672-B545-4442-BB0A-4774955422F8}" type="presParOf" srcId="{41E9E2D0-B4D0-F147-B37C-EA706DDE8895}" destId="{CB560DE6-C101-8948-BB4C-94063A5A05CE}" srcOrd="0" destOrd="0" presId="urn:microsoft.com/office/officeart/2005/8/layout/list1"/>
    <dgm:cxn modelId="{BFD0B39A-603F-314D-A30F-D61D9EB76448}" type="presParOf" srcId="{CB560DE6-C101-8948-BB4C-94063A5A05CE}" destId="{58956215-702F-7849-8BC1-BFB2D16A625A}" srcOrd="0" destOrd="0" presId="urn:microsoft.com/office/officeart/2005/8/layout/list1"/>
    <dgm:cxn modelId="{67268DA7-CC97-6C47-82D1-F4E5475890E1}" type="presParOf" srcId="{CB560DE6-C101-8948-BB4C-94063A5A05CE}" destId="{F4A2C023-3FD4-404E-ACC3-0A26547C9445}" srcOrd="1" destOrd="0" presId="urn:microsoft.com/office/officeart/2005/8/layout/list1"/>
    <dgm:cxn modelId="{E092EFAE-E5CB-D14E-9984-2CD609516082}" type="presParOf" srcId="{41E9E2D0-B4D0-F147-B37C-EA706DDE8895}" destId="{4FF97BB5-5D3A-B94E-A2B0-1AC7D2716AB2}" srcOrd="1" destOrd="0" presId="urn:microsoft.com/office/officeart/2005/8/layout/list1"/>
    <dgm:cxn modelId="{2AC88CCE-E9F4-A54C-977F-55D8FB659CD0}" type="presParOf" srcId="{41E9E2D0-B4D0-F147-B37C-EA706DDE8895}" destId="{EB0CDA9F-759C-B54D-B79B-3351A8CA6904}" srcOrd="2" destOrd="0" presId="urn:microsoft.com/office/officeart/2005/8/layout/list1"/>
    <dgm:cxn modelId="{4966AE04-4C0A-E645-99E4-1E6413606EFF}" type="presParOf" srcId="{41E9E2D0-B4D0-F147-B37C-EA706DDE8895}" destId="{2C1E854D-5D2B-A149-AD7F-D9035175C3DD}" srcOrd="3" destOrd="0" presId="urn:microsoft.com/office/officeart/2005/8/layout/list1"/>
    <dgm:cxn modelId="{33377EB9-A2F8-CB4A-B6AC-C2556F9B1252}" type="presParOf" srcId="{41E9E2D0-B4D0-F147-B37C-EA706DDE8895}" destId="{982C254F-6B49-9A41-B8A6-7F7835A71F36}" srcOrd="4" destOrd="0" presId="urn:microsoft.com/office/officeart/2005/8/layout/list1"/>
    <dgm:cxn modelId="{04C7AB70-A83A-7F43-8A9E-0A2DDA3F2C8D}" type="presParOf" srcId="{982C254F-6B49-9A41-B8A6-7F7835A71F36}" destId="{E27D5721-B034-E548-ACF1-7A134731AEDE}" srcOrd="0" destOrd="0" presId="urn:microsoft.com/office/officeart/2005/8/layout/list1"/>
    <dgm:cxn modelId="{C604A8D5-BDB9-7D47-A10C-9A0DF81EA178}" type="presParOf" srcId="{982C254F-6B49-9A41-B8A6-7F7835A71F36}" destId="{7BF5DBD9-2A4A-9345-96B1-A546572A591E}" srcOrd="1" destOrd="0" presId="urn:microsoft.com/office/officeart/2005/8/layout/list1"/>
    <dgm:cxn modelId="{CD12FFC1-DD64-3340-BE86-7AC8A3F5EDFD}" type="presParOf" srcId="{41E9E2D0-B4D0-F147-B37C-EA706DDE8895}" destId="{10730570-80C9-404E-AB8F-663980E3DC1F}" srcOrd="5" destOrd="0" presId="urn:microsoft.com/office/officeart/2005/8/layout/list1"/>
    <dgm:cxn modelId="{D435828B-E538-E944-A619-F56FDD1DEFDB}" type="presParOf" srcId="{41E9E2D0-B4D0-F147-B37C-EA706DDE8895}" destId="{9B584298-AFDB-B142-B75A-323F16B72C1E}" srcOrd="6" destOrd="0" presId="urn:microsoft.com/office/officeart/2005/8/layout/list1"/>
    <dgm:cxn modelId="{954FEBE7-7F3E-1647-86FB-101119BD7487}" type="presParOf" srcId="{41E9E2D0-B4D0-F147-B37C-EA706DDE8895}" destId="{D5039FBF-A2FC-6A49-97C1-7949F3FDE085}" srcOrd="7" destOrd="0" presId="urn:microsoft.com/office/officeart/2005/8/layout/list1"/>
    <dgm:cxn modelId="{50012D57-8C3B-EF4B-91BB-58DED7AFA083}" type="presParOf" srcId="{41E9E2D0-B4D0-F147-B37C-EA706DDE8895}" destId="{9F563966-F558-7946-9094-29ECE378D507}" srcOrd="8" destOrd="0" presId="urn:microsoft.com/office/officeart/2005/8/layout/list1"/>
    <dgm:cxn modelId="{6609046C-8E19-D047-8DB7-FE17343C5126}" type="presParOf" srcId="{9F563966-F558-7946-9094-29ECE378D507}" destId="{8056D07C-DAE9-8F44-8F14-5F885D7086EF}" srcOrd="0" destOrd="0" presId="urn:microsoft.com/office/officeart/2005/8/layout/list1"/>
    <dgm:cxn modelId="{0847C53D-350A-CE45-B0C8-0C6691DDBBEB}" type="presParOf" srcId="{9F563966-F558-7946-9094-29ECE378D507}" destId="{8043AA58-3EBA-E048-8BD2-27799AD1B4E3}" srcOrd="1" destOrd="0" presId="urn:microsoft.com/office/officeart/2005/8/layout/list1"/>
    <dgm:cxn modelId="{5BC44D9E-E5D5-5742-BE46-6D1AA5E56268}" type="presParOf" srcId="{41E9E2D0-B4D0-F147-B37C-EA706DDE8895}" destId="{512B901B-4BF2-BC4F-97C5-79D11F571A12}" srcOrd="9" destOrd="0" presId="urn:microsoft.com/office/officeart/2005/8/layout/list1"/>
    <dgm:cxn modelId="{4E595B05-501B-684D-88E8-D5E896F69FA0}" type="presParOf" srcId="{41E9E2D0-B4D0-F147-B37C-EA706DDE8895}" destId="{6A998E3C-8D89-B149-B760-E0BF91B67AFA}" srcOrd="10" destOrd="0" presId="urn:microsoft.com/office/officeart/2005/8/layout/list1"/>
    <dgm:cxn modelId="{4DB2D9E0-BB0A-B14F-B571-A730C74556D4}" type="presParOf" srcId="{41E9E2D0-B4D0-F147-B37C-EA706DDE8895}" destId="{F0E3FDD4-CC79-D04B-88A4-BBE0847C8705}" srcOrd="11" destOrd="0" presId="urn:microsoft.com/office/officeart/2005/8/layout/list1"/>
    <dgm:cxn modelId="{C77EE0B5-C963-C34F-AF12-38D4CBD1DC20}" type="presParOf" srcId="{41E9E2D0-B4D0-F147-B37C-EA706DDE8895}" destId="{1C998310-7960-AB41-98C6-89F6BA8A187B}" srcOrd="12" destOrd="0" presId="urn:microsoft.com/office/officeart/2005/8/layout/list1"/>
    <dgm:cxn modelId="{2077F7FF-9233-9C42-86CE-482B585BD13A}" type="presParOf" srcId="{1C998310-7960-AB41-98C6-89F6BA8A187B}" destId="{2D74DD47-1345-354C-986D-90699C26A0CB}" srcOrd="0" destOrd="0" presId="urn:microsoft.com/office/officeart/2005/8/layout/list1"/>
    <dgm:cxn modelId="{70390D3F-8D3D-3749-8C0A-69C46FF86D6A}" type="presParOf" srcId="{1C998310-7960-AB41-98C6-89F6BA8A187B}" destId="{BD21DD54-AE5A-384F-89B0-2D9556A62D55}" srcOrd="1" destOrd="0" presId="urn:microsoft.com/office/officeart/2005/8/layout/list1"/>
    <dgm:cxn modelId="{1E737677-1AD3-7E4B-868A-30335C33A22D}" type="presParOf" srcId="{41E9E2D0-B4D0-F147-B37C-EA706DDE8895}" destId="{32E340BC-85DA-8C40-BAD5-BED2B0205789}" srcOrd="13" destOrd="0" presId="urn:microsoft.com/office/officeart/2005/8/layout/list1"/>
    <dgm:cxn modelId="{528F034D-99BD-E247-8E85-04118716F8BF}" type="presParOf" srcId="{41E9E2D0-B4D0-F147-B37C-EA706DDE8895}" destId="{94B98082-55C1-964D-8A42-C4C622267D69}" srcOrd="14" destOrd="0" presId="urn:microsoft.com/office/officeart/2005/8/layout/list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EB0CDA9F-759C-B54D-B79B-3351A8CA6904}">
      <dsp:nvSpPr>
        <dsp:cNvPr id="0" name=""/>
        <dsp:cNvSpPr/>
      </dsp:nvSpPr>
      <dsp:spPr>
        <a:xfrm>
          <a:off x="0" y="586223"/>
          <a:ext cx="6630174" cy="554399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F4A2C023-3FD4-404E-ACC3-0A26547C9445}">
      <dsp:nvSpPr>
        <dsp:cNvPr id="0" name=""/>
        <dsp:cNvSpPr/>
      </dsp:nvSpPr>
      <dsp:spPr>
        <a:xfrm>
          <a:off x="331508" y="261503"/>
          <a:ext cx="4641121" cy="649440"/>
        </a:xfrm>
        <a:prstGeom prst="roundRect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75423" tIns="0" rIns="175423" bIns="0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/>
            <a:t>Pay as you go pricing model</a:t>
          </a:r>
        </a:p>
      </dsp:txBody>
      <dsp:txXfrm>
        <a:off x="363211" y="293206"/>
        <a:ext cx="4577715" cy="586034"/>
      </dsp:txXfrm>
    </dsp:sp>
    <dsp:sp modelId="{9B584298-AFDB-B142-B75A-323F16B72C1E}">
      <dsp:nvSpPr>
        <dsp:cNvPr id="0" name=""/>
        <dsp:cNvSpPr/>
      </dsp:nvSpPr>
      <dsp:spPr>
        <a:xfrm>
          <a:off x="0" y="1584143"/>
          <a:ext cx="6630174" cy="554399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3">
              <a:hueOff val="252426"/>
              <a:satOff val="3301"/>
              <a:lumOff val="-4052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7BF5DBD9-2A4A-9345-96B1-A546572A591E}">
      <dsp:nvSpPr>
        <dsp:cNvPr id="0" name=""/>
        <dsp:cNvSpPr/>
      </dsp:nvSpPr>
      <dsp:spPr>
        <a:xfrm>
          <a:off x="331508" y="1259423"/>
          <a:ext cx="4641121" cy="649440"/>
        </a:xfrm>
        <a:prstGeom prst="roundRect">
          <a:avLst/>
        </a:prstGeom>
        <a:solidFill>
          <a:schemeClr val="accent3">
            <a:hueOff val="252426"/>
            <a:satOff val="3301"/>
            <a:lumOff val="-4052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75423" tIns="0" rIns="175423" bIns="0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/>
            <a:t>No contracts</a:t>
          </a:r>
        </a:p>
      </dsp:txBody>
      <dsp:txXfrm>
        <a:off x="363211" y="1291126"/>
        <a:ext cx="4577715" cy="586034"/>
      </dsp:txXfrm>
    </dsp:sp>
    <dsp:sp modelId="{6A998E3C-8D89-B149-B760-E0BF91B67AFA}">
      <dsp:nvSpPr>
        <dsp:cNvPr id="0" name=""/>
        <dsp:cNvSpPr/>
      </dsp:nvSpPr>
      <dsp:spPr>
        <a:xfrm>
          <a:off x="0" y="2582063"/>
          <a:ext cx="6630174" cy="1663199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3">
              <a:hueOff val="504853"/>
              <a:satOff val="6602"/>
              <a:lumOff val="-8104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14575" tIns="458216" rIns="514575" bIns="156464" numCol="1" spcCol="1270" anchor="t" anchorCtr="0">
          <a:noAutofit/>
        </a:bodyPr>
        <a:lstStyle/>
        <a:p>
          <a:pPr marL="228600" lvl="1" indent="-228600" algn="l" defTabSz="9779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200" kern="1200"/>
            <a:t>Workload uncertainty</a:t>
          </a:r>
        </a:p>
        <a:p>
          <a:pPr marL="228600" lvl="1" indent="-228600" algn="l" defTabSz="9779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200" kern="1200"/>
            <a:t>Commitment free usage</a:t>
          </a:r>
        </a:p>
        <a:p>
          <a:pPr marL="228600" lvl="1" indent="-228600" algn="l" defTabSz="9779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200" kern="1200"/>
            <a:t>Experimentation</a:t>
          </a:r>
        </a:p>
      </dsp:txBody>
      <dsp:txXfrm>
        <a:off x="0" y="2582063"/>
        <a:ext cx="6630174" cy="1663199"/>
      </dsp:txXfrm>
    </dsp:sp>
    <dsp:sp modelId="{8043AA58-3EBA-E048-8BD2-27799AD1B4E3}">
      <dsp:nvSpPr>
        <dsp:cNvPr id="0" name=""/>
        <dsp:cNvSpPr/>
      </dsp:nvSpPr>
      <dsp:spPr>
        <a:xfrm>
          <a:off x="331508" y="2257343"/>
          <a:ext cx="4641121" cy="649440"/>
        </a:xfrm>
        <a:prstGeom prst="roundRect">
          <a:avLst/>
        </a:prstGeom>
        <a:solidFill>
          <a:schemeClr val="accent3">
            <a:hueOff val="504853"/>
            <a:satOff val="6602"/>
            <a:lumOff val="-8104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75423" tIns="0" rIns="175423" bIns="0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/>
            <a:t>Great for:</a:t>
          </a:r>
        </a:p>
      </dsp:txBody>
      <dsp:txXfrm>
        <a:off x="363211" y="2289046"/>
        <a:ext cx="4577715" cy="586034"/>
      </dsp:txXfrm>
    </dsp:sp>
    <dsp:sp modelId="{94B98082-55C1-964D-8A42-C4C622267D69}">
      <dsp:nvSpPr>
        <dsp:cNvPr id="0" name=""/>
        <dsp:cNvSpPr/>
      </dsp:nvSpPr>
      <dsp:spPr>
        <a:xfrm>
          <a:off x="0" y="4688784"/>
          <a:ext cx="6630174" cy="554399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3">
              <a:hueOff val="757279"/>
              <a:satOff val="9903"/>
              <a:lumOff val="-12156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BD21DD54-AE5A-384F-89B0-2D9556A62D55}">
      <dsp:nvSpPr>
        <dsp:cNvPr id="0" name=""/>
        <dsp:cNvSpPr/>
      </dsp:nvSpPr>
      <dsp:spPr>
        <a:xfrm>
          <a:off x="331508" y="4364063"/>
          <a:ext cx="4641121" cy="649440"/>
        </a:xfrm>
        <a:prstGeom prst="roundRect">
          <a:avLst/>
        </a:prstGeom>
        <a:solidFill>
          <a:schemeClr val="accent3">
            <a:hueOff val="757279"/>
            <a:satOff val="9903"/>
            <a:lumOff val="-12156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75423" tIns="0" rIns="175423" bIns="0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/>
            <a:t>The flexibility comes at a higher cost</a:t>
          </a:r>
        </a:p>
      </dsp:txBody>
      <dsp:txXfrm>
        <a:off x="363211" y="4395766"/>
        <a:ext cx="4577715" cy="586034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list1">
  <dgm:title val=""/>
  <dgm:desc val=""/>
  <dgm:catLst>
    <dgm:cat type="list" pri="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4" srcId="0" destId="1" srcOrd="0" destOrd="0"/>
        <dgm:cxn modelId="5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dir/>
      <dgm:animLvl val="lvl"/>
      <dgm:resizeHandles val="exact"/>
    </dgm:varLst>
    <dgm:choose name="Name0">
      <dgm:if name="Name1" func="var" arg="dir" op="equ" val="norm">
        <dgm:alg type="lin">
          <dgm:param type="linDir" val="fromT"/>
          <dgm:param type="vertAlign" val="mid"/>
          <dgm:param type="horzAlign" val="l"/>
          <dgm:param type="nodeHorzAlign" val="l"/>
        </dgm:alg>
      </dgm:if>
      <dgm:else name="Name2">
        <dgm:alg type="lin">
          <dgm:param type="linDir" val="fromT"/>
          <dgm:param type="vertAlign" val="mid"/>
          <dgm:param type="horzAlign" val="r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parentLin" refType="w"/>
      <dgm:constr type="h" for="ch" forName="parentLin" val="INF"/>
      <dgm:constr type="w" for="des" forName="parentLeftMargin" refType="w" fact="0.05"/>
      <dgm:constr type="w" for="des" forName="parentText" refType="w" fact="0.7"/>
      <dgm:constr type="h" for="des" forName="parentText" refType="primFontSz" refFor="des" refForName="parentText" fact="0.82"/>
      <dgm:constr type="h" for="ch" forName="negativeSpace" refType="primFontSz" refFor="des" refForName="parentText" fact="-0.41"/>
      <dgm:constr type="h" for="ch" forName="negativeSpace" refType="h" refFor="des" refForName="parentText" op="lte" fact="-0.82"/>
      <dgm:constr type="h" for="ch" forName="negativeSpace" refType="h" refFor="des" refForName="parentText" op="gte" fact="-0.82"/>
      <dgm:constr type="w" for="ch" forName="childText" refType="w"/>
      <dgm:constr type="h" for="ch" forName="childText" refType="primFontSz" refFor="des" refForName="parentText" fact="0.7"/>
      <dgm:constr type="primFontSz" for="des" forName="parentText" val="65"/>
      <dgm:constr type="primFontSz" for="ch" forName="childText" refType="primFontSz" refFor="des" refForName="parentText"/>
      <dgm:constr type="tMarg" for="ch" forName="childText" refType="primFontSz" refFor="des" refForName="parentText" fact="1.64"/>
      <dgm:constr type="tMarg" for="ch" forName="childText" refType="h" refFor="des" refForName="parentText" op="lte" fact="3.28"/>
      <dgm:constr type="tMarg" for="ch" forName="childText" refType="h" refFor="des" refForName="parentText" op="gte" fact="3.28"/>
      <dgm:constr type="lMarg" for="ch" forName="childText" refType="w" fact="0.22"/>
      <dgm:constr type="rMarg" for="ch" forName="childText" refType="lMarg" refFor="ch" refForName="childText"/>
      <dgm:constr type="lMarg" for="des" forName="parentText" refType="w" fact="0.075"/>
      <dgm:constr type="rMarg" for="des" forName="parentText" refType="lMarg" refFor="des" refForName="parentText"/>
      <dgm:constr type="h" for="ch" forName="spaceBetweenRectangles" refType="primFontSz" refFor="des" refForName="parentText" fact="0.15"/>
    </dgm:constrLst>
    <dgm:ruleLst>
      <dgm:rule type="primFontSz" for="des" forName="parentText" val="5" fact="NaN" max="NaN"/>
    </dgm:ruleLst>
    <dgm:forEach name="Name3" axis="ch" ptType="node">
      <dgm:layoutNode name="parentLin">
        <dgm:choose name="Name4">
          <dgm:if name="Name5" func="var" arg="dir" op="equ" val="norm">
            <dgm:alg type="lin">
              <dgm:param type="linDir" val="fromL"/>
              <dgm:param type="horzAlign" val="l"/>
              <dgm:param type="nodeHorzAlign" val="l"/>
            </dgm:alg>
          </dgm:if>
          <dgm:else name="Name6">
            <dgm:alg type="lin">
              <dgm:param type="linDir" val="fromR"/>
              <dgm:param type="horzAlign" val="r"/>
              <dgm:param type="nodeHorzAlign" val="r"/>
            </dgm:alg>
          </dgm:else>
        </dgm:choose>
        <dgm:shape xmlns:r="http://schemas.openxmlformats.org/officeDocument/2006/relationships" r:blip="">
          <dgm:adjLst/>
        </dgm:shape>
        <dgm:presOf/>
        <dgm:constrLst/>
        <dgm:ruleLst/>
        <dgm:layoutNode name="parentLeftMargin">
          <dgm:alg type="sp"/>
          <dgm:shape xmlns:r="http://schemas.openxmlformats.org/officeDocument/2006/relationships" type="rect" r:blip="" hideGeom="1">
            <dgm:adjLst/>
          </dgm:shape>
          <dgm:presOf axis="self"/>
          <dgm:constrLst>
            <dgm:constr type="h"/>
          </dgm:constrLst>
          <dgm:ruleLst/>
        </dgm:layoutNode>
        <dgm:layoutNode name="parentText" styleLbl="node1">
          <dgm:varLst>
            <dgm:chMax val="0"/>
            <dgm:bulletEnabled val="1"/>
          </dgm:varLst>
          <dgm:choose name="Name7">
            <dgm:if name="Name8" func="var" arg="dir" op="equ" val="norm">
              <dgm:alg type="tx">
                <dgm:param type="parTxLTRAlign" val="l"/>
                <dgm:param type="parTxRTLAlign" val="l"/>
              </dgm:alg>
            </dgm:if>
            <dgm:else name="Name9">
              <dgm:alg type="tx">
                <dgm:param type="parTxLTRAlign" val="r"/>
                <dgm:param type="parTxRTLAlign" val="r"/>
              </dgm:alg>
            </dgm:else>
          </dgm:choose>
          <dgm:shape xmlns:r="http://schemas.openxmlformats.org/officeDocument/2006/relationships" type="roundRect" r:blip="">
            <dgm:adjLst/>
          </dgm:shape>
          <dgm:presOf axis="self" ptType="node"/>
          <dgm:constrLst>
            <dgm:constr type="tMarg"/>
            <dgm:constr type="bMarg"/>
          </dgm:constrLst>
          <dgm:ruleLst/>
        </dgm:layoutNode>
      </dgm:layoutNode>
      <dgm:layoutNode name="negativeSpace">
        <dgm:alg type="sp"/>
        <dgm:shape xmlns:r="http://schemas.openxmlformats.org/officeDocument/2006/relationships" r:blip="">
          <dgm:adjLst/>
        </dgm:shape>
        <dgm:presOf/>
        <dgm:constrLst/>
        <dgm:ruleLst/>
      </dgm:layoutNode>
      <dgm:layoutNode name="childText" styleLbl="conFgAcc1">
        <dgm:varLst>
          <dgm:bulletEnabled val="1"/>
        </dgm:varLst>
        <dgm:alg type="tx">
          <dgm:param type="stBulletLvl" val="1"/>
        </dgm:alg>
        <dgm:shape xmlns:r="http://schemas.openxmlformats.org/officeDocument/2006/relationships" type="rect" r:blip="" zOrderOff="-2">
          <dgm:adjLst/>
        </dgm:shape>
        <dgm:presOf axis="des" ptType="node"/>
        <dgm:constrLst>
          <dgm:constr type="secFontSz" refType="primFontSz"/>
        </dgm:constrLst>
        <dgm:ruleLst>
          <dgm:rule type="h" val="INF" fact="NaN" max="NaN"/>
        </dgm:ruleLst>
      </dgm:layoutNode>
      <dgm:forEach name="Name10" axis="followSib" ptType="sibTrans" cnt="1">
        <dgm:layoutNode name="spaceBetweenRectangle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64C8B85-23FD-614C-A0D2-ED736057E8FE}" type="datetimeFigureOut">
              <a:rPr lang="en-US" smtClean="0"/>
              <a:t>9/6/25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51FBCB3-82F6-8044-A1D1-19D4E210A5D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0023861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51FBCB3-82F6-8044-A1D1-19D4E210A5DA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0546153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CA" dirty="0"/>
              <a:t>Unlike other cloud providers, who often define a region as a single data center, the multiple AZ design of every AWS Region offers advantages for customers. 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51FBCB3-82F6-8044-A1D1-19D4E210A5DA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0148717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EC2(to2:10): https://</a:t>
            </a:r>
            <a:r>
              <a:rPr lang="en-US" dirty="0" err="1"/>
              <a:t>www.linkedin.com</a:t>
            </a:r>
            <a:r>
              <a:rPr lang="en-US" dirty="0"/>
              <a:t>/learning/</a:t>
            </a:r>
            <a:r>
              <a:rPr lang="en-US" dirty="0" err="1"/>
              <a:t>aws</a:t>
            </a:r>
            <a:r>
              <a:rPr lang="en-US" dirty="0"/>
              <a:t>-essential-training-for-developers/birth-of-the-cloud-ec2-and-s3</a:t>
            </a:r>
          </a:p>
          <a:p>
            <a:endParaRPr lang="en-US" dirty="0"/>
          </a:p>
          <a:p>
            <a:r>
              <a:rPr lang="en-US" dirty="0"/>
              <a:t>AZ: https://</a:t>
            </a:r>
            <a:r>
              <a:rPr lang="en-US" dirty="0" err="1"/>
              <a:t>www.linkedin.com</a:t>
            </a:r>
            <a:r>
              <a:rPr lang="en-US" dirty="0"/>
              <a:t>/learning/</a:t>
            </a:r>
            <a:r>
              <a:rPr lang="en-US" dirty="0" err="1"/>
              <a:t>aws</a:t>
            </a:r>
            <a:r>
              <a:rPr lang="en-US" dirty="0"/>
              <a:t>-essential-training-for-developers/regions-and-availability-zones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51FBCB3-82F6-8044-A1D1-19D4E210A5DA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36885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51FBCB3-82F6-8044-A1D1-19D4E210A5DA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29584829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51FBCB3-82F6-8044-A1D1-19D4E210A5DA}" type="slidenum">
              <a:rPr lang="en-US" smtClean="0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6997932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E52AF1-8391-6547-A3ED-90C023A5BEAB}" type="datetimeFigureOut">
              <a:rPr lang="en-US" smtClean="0"/>
              <a:t>9/6/25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2AA6FD-3CF7-7C47-9AF7-B0D807FE56B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4704997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E52AF1-8391-6547-A3ED-90C023A5BEAB}" type="datetimeFigureOut">
              <a:rPr lang="en-US" smtClean="0"/>
              <a:t>9/6/25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2AA6FD-3CF7-7C47-9AF7-B0D807FE56B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6022784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E52AF1-8391-6547-A3ED-90C023A5BEAB}" type="datetimeFigureOut">
              <a:rPr lang="en-US" smtClean="0"/>
              <a:t>9/6/25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2AA6FD-3CF7-7C47-9AF7-B0D807FE56B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0474142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E52AF1-8391-6547-A3ED-90C023A5BEAB}" type="datetimeFigureOut">
              <a:rPr lang="en-US" smtClean="0"/>
              <a:t>9/6/25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2AA6FD-3CF7-7C47-9AF7-B0D807FE56B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35495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E52AF1-8391-6547-A3ED-90C023A5BEAB}" type="datetimeFigureOut">
              <a:rPr lang="en-US" smtClean="0"/>
              <a:t>9/6/25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2AA6FD-3CF7-7C47-9AF7-B0D807FE56B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75893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E52AF1-8391-6547-A3ED-90C023A5BEAB}" type="datetimeFigureOut">
              <a:rPr lang="en-US" smtClean="0"/>
              <a:t>9/6/25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2AA6FD-3CF7-7C47-9AF7-B0D807FE56B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9071229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E52AF1-8391-6547-A3ED-90C023A5BEAB}" type="datetimeFigureOut">
              <a:rPr lang="en-US" smtClean="0"/>
              <a:t>9/6/25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2AA6FD-3CF7-7C47-9AF7-B0D807FE56B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391068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E52AF1-8391-6547-A3ED-90C023A5BEAB}" type="datetimeFigureOut">
              <a:rPr lang="en-US" smtClean="0"/>
              <a:t>9/6/25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2AA6FD-3CF7-7C47-9AF7-B0D807FE56B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5662407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E52AF1-8391-6547-A3ED-90C023A5BEAB}" type="datetimeFigureOut">
              <a:rPr lang="en-US" smtClean="0"/>
              <a:t>9/6/25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2AA6FD-3CF7-7C47-9AF7-B0D807FE56B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8983580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E52AF1-8391-6547-A3ED-90C023A5BEAB}" type="datetimeFigureOut">
              <a:rPr lang="en-US" smtClean="0"/>
              <a:t>9/6/25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2AA6FD-3CF7-7C47-9AF7-B0D807FE56B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9492200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E52AF1-8391-6547-A3ED-90C023A5BEAB}" type="datetimeFigureOut">
              <a:rPr lang="en-US" smtClean="0"/>
              <a:t>9/6/25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2AA6FD-3CF7-7C47-9AF7-B0D807FE56B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9268880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3E52AF1-8391-6547-A3ED-90C023A5BEAB}" type="datetimeFigureOut">
              <a:rPr lang="en-US" smtClean="0"/>
              <a:t>9/6/25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32AA6FD-3CF7-7C47-9AF7-B0D807FE56B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14588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18" r:id="rId1"/>
    <p:sldLayoutId id="2147483819" r:id="rId2"/>
    <p:sldLayoutId id="2147483820" r:id="rId3"/>
    <p:sldLayoutId id="2147483821" r:id="rId4"/>
    <p:sldLayoutId id="2147483822" r:id="rId5"/>
    <p:sldLayoutId id="2147483823" r:id="rId6"/>
    <p:sldLayoutId id="2147483824" r:id="rId7"/>
    <p:sldLayoutId id="2147483825" r:id="rId8"/>
    <p:sldLayoutId id="2147483826" r:id="rId9"/>
    <p:sldLayoutId id="2147483827" r:id="rId10"/>
    <p:sldLayoutId id="2147483828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/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sv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hyperlink" Target="https://infrastructure.aws/" TargetMode="Externa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hyperlink" Target="https://docs.aws.amazon.com/AWSEC2/latest/WindowsGuide/connecting_to_windows_instance.html" TargetMode="External"/><Relationship Id="rId7" Type="http://schemas.openxmlformats.org/officeDocument/2006/relationships/image" Target="../media/image1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remmina.org/" TargetMode="External"/><Relationship Id="rId5" Type="http://schemas.openxmlformats.org/officeDocument/2006/relationships/hyperlink" Target="https://apps.apple.com/us/app/microsoft-remote-desktop/id1295203466?mt=12" TargetMode="External"/><Relationship Id="rId4" Type="http://schemas.openxmlformats.org/officeDocument/2006/relationships/hyperlink" Target="https://windows.microsoft.com/" TargetMode="Externa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hyperlink" Target="https://docs.aws.amazon.com/AWSEC2/latest/UserGuide/ec2-instance-lifecycle.html" TargetMode="Externa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8" name="Rectangle 27">
            <a:extLst>
              <a:ext uri="{FF2B5EF4-FFF2-40B4-BE49-F238E27FC236}">
                <a16:creationId xmlns:a16="http://schemas.microsoft.com/office/drawing/2014/main" id="{A81E7530-396C-45F0-92F4-A885648D163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5" name="Picture 3" descr="Computer parts">
            <a:extLst>
              <a:ext uri="{FF2B5EF4-FFF2-40B4-BE49-F238E27FC236}">
                <a16:creationId xmlns:a16="http://schemas.microsoft.com/office/drawing/2014/main" id="{C1241A54-85BF-4882-91E4-2FBCB465F3F1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4549" r="1" b="6792"/>
          <a:stretch/>
        </p:blipFill>
        <p:spPr>
          <a:xfrm>
            <a:off x="603671" y="-1"/>
            <a:ext cx="11588329" cy="6857999"/>
          </a:xfrm>
          <a:prstGeom prst="rect">
            <a:avLst/>
          </a:prstGeom>
        </p:spPr>
      </p:pic>
      <p:sp>
        <p:nvSpPr>
          <p:cNvPr id="30" name="Rectangle 29">
            <a:extLst>
              <a:ext uri="{FF2B5EF4-FFF2-40B4-BE49-F238E27FC236}">
                <a16:creationId xmlns:a16="http://schemas.microsoft.com/office/drawing/2014/main" id="{7316481C-0A49-4796-812B-0D64F063B72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0"/>
            <a:ext cx="5419898" cy="6858000"/>
          </a:xfrm>
          <a:prstGeom prst="rect">
            <a:avLst/>
          </a:prstGeom>
          <a:solidFill>
            <a:schemeClr val="tx1">
              <a:alpha val="5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A5271697-90F1-4A23-8EF2-0179F2EAFAC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1"/>
            <a:ext cx="606972" cy="3233984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34" name="Group 33">
            <a:extLst>
              <a:ext uri="{FF2B5EF4-FFF2-40B4-BE49-F238E27FC236}">
                <a16:creationId xmlns:a16="http://schemas.microsoft.com/office/drawing/2014/main" id="{81DE8B58-F373-409E-A253-4380A66091D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188720" y="73152"/>
            <a:ext cx="1178966" cy="232963"/>
            <a:chOff x="1188720" y="73152"/>
            <a:chExt cx="1178966" cy="232963"/>
          </a:xfrm>
        </p:grpSpPr>
        <p:sp>
          <p:nvSpPr>
            <p:cNvPr id="35" name="Rectangle 64">
              <a:extLst>
                <a:ext uri="{FF2B5EF4-FFF2-40B4-BE49-F238E27FC236}">
                  <a16:creationId xmlns:a16="http://schemas.microsoft.com/office/drawing/2014/main" id="{F5ACE265-D22D-48CC-99DE-EB81AE9229E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688541" y="73152"/>
              <a:ext cx="54368" cy="59227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6" name="Rectangle 66">
              <a:extLst>
                <a:ext uri="{FF2B5EF4-FFF2-40B4-BE49-F238E27FC236}">
                  <a16:creationId xmlns:a16="http://schemas.microsoft.com/office/drawing/2014/main" id="{6FE80EEA-F4ED-4436-8861-0BEAAEFE761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688541" y="246888"/>
              <a:ext cx="54368" cy="59227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7" name="Rectangle 64">
              <a:extLst>
                <a:ext uri="{FF2B5EF4-FFF2-40B4-BE49-F238E27FC236}">
                  <a16:creationId xmlns:a16="http://schemas.microsoft.com/office/drawing/2014/main" id="{C3642BC8-86E8-47D0-8846-3E4D49E4B46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563586" y="73152"/>
              <a:ext cx="54368" cy="59227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8" name="Rectangle 66">
              <a:extLst>
                <a:ext uri="{FF2B5EF4-FFF2-40B4-BE49-F238E27FC236}">
                  <a16:creationId xmlns:a16="http://schemas.microsoft.com/office/drawing/2014/main" id="{82D35214-3634-4180-BF0E-45B6145161C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563586" y="246888"/>
              <a:ext cx="54368" cy="59227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9" name="Rectangle 64">
              <a:extLst>
                <a:ext uri="{FF2B5EF4-FFF2-40B4-BE49-F238E27FC236}">
                  <a16:creationId xmlns:a16="http://schemas.microsoft.com/office/drawing/2014/main" id="{15BE89E6-3D1C-42B5-A950-E72889F8BB6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438631" y="73152"/>
              <a:ext cx="54368" cy="59227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0" name="Rectangle 66">
              <a:extLst>
                <a:ext uri="{FF2B5EF4-FFF2-40B4-BE49-F238E27FC236}">
                  <a16:creationId xmlns:a16="http://schemas.microsoft.com/office/drawing/2014/main" id="{473771CC-5097-4E08-9606-24B0BC9A0D1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438631" y="246888"/>
              <a:ext cx="54368" cy="59227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1" name="Rectangle 64">
              <a:extLst>
                <a:ext uri="{FF2B5EF4-FFF2-40B4-BE49-F238E27FC236}">
                  <a16:creationId xmlns:a16="http://schemas.microsoft.com/office/drawing/2014/main" id="{BE872634-00DA-47BD-880D-5C05FFADCC2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313675" y="73152"/>
              <a:ext cx="54368" cy="59227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2" name="Rectangle 66">
              <a:extLst>
                <a:ext uri="{FF2B5EF4-FFF2-40B4-BE49-F238E27FC236}">
                  <a16:creationId xmlns:a16="http://schemas.microsoft.com/office/drawing/2014/main" id="{4F151F5C-DE9B-460E-BC51-471F4A8A5A2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313675" y="246888"/>
              <a:ext cx="54368" cy="59227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3" name="Rectangle 64">
              <a:extLst>
                <a:ext uri="{FF2B5EF4-FFF2-40B4-BE49-F238E27FC236}">
                  <a16:creationId xmlns:a16="http://schemas.microsoft.com/office/drawing/2014/main" id="{34557B8A-4D2F-4D0D-B746-59EA85318C4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188720" y="73152"/>
              <a:ext cx="54368" cy="59227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4" name="Rectangle 66">
              <a:extLst>
                <a:ext uri="{FF2B5EF4-FFF2-40B4-BE49-F238E27FC236}">
                  <a16:creationId xmlns:a16="http://schemas.microsoft.com/office/drawing/2014/main" id="{C764CD8E-E409-4E9B-8E87-746DDE36DA2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188720" y="246888"/>
              <a:ext cx="54368" cy="59227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5" name="Rectangle 64">
              <a:extLst>
                <a:ext uri="{FF2B5EF4-FFF2-40B4-BE49-F238E27FC236}">
                  <a16:creationId xmlns:a16="http://schemas.microsoft.com/office/drawing/2014/main" id="{8E27A01D-2F01-4286-9453-3FBF6E84856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2313318" y="73152"/>
              <a:ext cx="54368" cy="59227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6" name="Rectangle 66">
              <a:extLst>
                <a:ext uri="{FF2B5EF4-FFF2-40B4-BE49-F238E27FC236}">
                  <a16:creationId xmlns:a16="http://schemas.microsoft.com/office/drawing/2014/main" id="{460487A5-12EB-422E-9588-8FF06FAF739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2313318" y="246888"/>
              <a:ext cx="54368" cy="59227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7" name="Rectangle 64">
              <a:extLst>
                <a:ext uri="{FF2B5EF4-FFF2-40B4-BE49-F238E27FC236}">
                  <a16:creationId xmlns:a16="http://schemas.microsoft.com/office/drawing/2014/main" id="{7D522D20-C9F7-4B34-9066-4B43ADAABD4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2188363" y="73152"/>
              <a:ext cx="54368" cy="59227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8" name="Rectangle 66">
              <a:extLst>
                <a:ext uri="{FF2B5EF4-FFF2-40B4-BE49-F238E27FC236}">
                  <a16:creationId xmlns:a16="http://schemas.microsoft.com/office/drawing/2014/main" id="{97B04F2C-295B-447A-8941-0AD4F555161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2188363" y="246888"/>
              <a:ext cx="54368" cy="59227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9" name="Rectangle 64">
              <a:extLst>
                <a:ext uri="{FF2B5EF4-FFF2-40B4-BE49-F238E27FC236}">
                  <a16:creationId xmlns:a16="http://schemas.microsoft.com/office/drawing/2014/main" id="{17D7FF91-B366-4534-B9B4-5710926EE7C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2063408" y="73152"/>
              <a:ext cx="54368" cy="59227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0" name="Rectangle 66">
              <a:extLst>
                <a:ext uri="{FF2B5EF4-FFF2-40B4-BE49-F238E27FC236}">
                  <a16:creationId xmlns:a16="http://schemas.microsoft.com/office/drawing/2014/main" id="{B5B8116C-ADD9-4826-9C37-270377E8FF4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2063408" y="246888"/>
              <a:ext cx="54368" cy="59227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1" name="Rectangle 64">
              <a:extLst>
                <a:ext uri="{FF2B5EF4-FFF2-40B4-BE49-F238E27FC236}">
                  <a16:creationId xmlns:a16="http://schemas.microsoft.com/office/drawing/2014/main" id="{22D01D96-8DB8-40BF-83AC-4CA49EC2639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938452" y="73152"/>
              <a:ext cx="54368" cy="59227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2" name="Rectangle 66">
              <a:extLst>
                <a:ext uri="{FF2B5EF4-FFF2-40B4-BE49-F238E27FC236}">
                  <a16:creationId xmlns:a16="http://schemas.microsoft.com/office/drawing/2014/main" id="{44B584CD-5E60-4B15-847C-B30D15DA1A4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938452" y="246888"/>
              <a:ext cx="54368" cy="59227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3" name="Rectangle 64">
              <a:extLst>
                <a:ext uri="{FF2B5EF4-FFF2-40B4-BE49-F238E27FC236}">
                  <a16:creationId xmlns:a16="http://schemas.microsoft.com/office/drawing/2014/main" id="{CF2BB7DC-B968-4F0B-9748-BF0E6E297C2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813497" y="73152"/>
              <a:ext cx="54368" cy="59227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4" name="Rectangle 66">
              <a:extLst>
                <a:ext uri="{FF2B5EF4-FFF2-40B4-BE49-F238E27FC236}">
                  <a16:creationId xmlns:a16="http://schemas.microsoft.com/office/drawing/2014/main" id="{CF12C159-3F09-4861-9450-ECD5DB31009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813497" y="246888"/>
              <a:ext cx="54368" cy="59227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56" name="Rectangle 55">
            <a:extLst>
              <a:ext uri="{FF2B5EF4-FFF2-40B4-BE49-F238E27FC236}">
                <a16:creationId xmlns:a16="http://schemas.microsoft.com/office/drawing/2014/main" id="{D9F5512A-48E1-4C07-B75E-3CCC517B680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3233984"/>
            <a:ext cx="606972" cy="3624015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62C7D454-D5D9-194C-B925-76F336D370C8}"/>
              </a:ext>
            </a:extLst>
          </p:cNvPr>
          <p:cNvSpPr txBox="1"/>
          <p:nvPr/>
        </p:nvSpPr>
        <p:spPr>
          <a:xfrm>
            <a:off x="1166649" y="3379979"/>
            <a:ext cx="5005551" cy="318635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defTabSz="914400">
              <a:lnSpc>
                <a:spcPct val="90000"/>
              </a:lnSpc>
              <a:spcAft>
                <a:spcPts val="600"/>
              </a:spcAft>
            </a:pPr>
            <a:r>
              <a:rPr lang="en-CA" sz="3200" b="1" dirty="0">
                <a:solidFill>
                  <a:schemeClr val="bg2"/>
                </a:solidFill>
              </a:rPr>
              <a:t>Amazon </a:t>
            </a:r>
          </a:p>
          <a:p>
            <a:pPr defTabSz="914400">
              <a:lnSpc>
                <a:spcPct val="90000"/>
              </a:lnSpc>
              <a:spcAft>
                <a:spcPts val="600"/>
              </a:spcAft>
            </a:pPr>
            <a:r>
              <a:rPr lang="en-CA" sz="3200" b="1" dirty="0">
                <a:solidFill>
                  <a:schemeClr val="bg2"/>
                </a:solidFill>
              </a:rPr>
              <a:t>Elastic Compute Cloud</a:t>
            </a:r>
            <a:r>
              <a:rPr lang="en-CA" sz="3200" dirty="0">
                <a:solidFill>
                  <a:schemeClr val="bg2"/>
                </a:solidFill>
              </a:rPr>
              <a:t> </a:t>
            </a:r>
          </a:p>
          <a:p>
            <a:pPr defTabSz="914400">
              <a:lnSpc>
                <a:spcPct val="90000"/>
              </a:lnSpc>
              <a:spcAft>
                <a:spcPts val="600"/>
              </a:spcAft>
            </a:pPr>
            <a:r>
              <a:rPr lang="en-CA" sz="3200" dirty="0">
                <a:solidFill>
                  <a:schemeClr val="bg2"/>
                </a:solidFill>
              </a:rPr>
              <a:t>(Amazon EC2)</a:t>
            </a:r>
            <a:endParaRPr lang="en-US" sz="3200" dirty="0">
              <a:solidFill>
                <a:schemeClr val="bg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67309214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Rectangle 41">
            <a:extLst>
              <a:ext uri="{FF2B5EF4-FFF2-40B4-BE49-F238E27FC236}">
                <a16:creationId xmlns:a16="http://schemas.microsoft.com/office/drawing/2014/main" id="{86FF76B9-219D-4469-AF87-0236D29032F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grpSp>
        <p:nvGrpSpPr>
          <p:cNvPr id="44" name="Group 43">
            <a:extLst>
              <a:ext uri="{FF2B5EF4-FFF2-40B4-BE49-F238E27FC236}">
                <a16:creationId xmlns:a16="http://schemas.microsoft.com/office/drawing/2014/main" id="{DB88BD78-87E1-424D-B479-C37D8E41B12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flipH="1">
            <a:off x="10964637" y="2358"/>
            <a:ext cx="1876653" cy="1766008"/>
            <a:chOff x="-648769" y="2358"/>
            <a:chExt cx="1876653" cy="1766008"/>
          </a:xfrm>
        </p:grpSpPr>
        <p:sp>
          <p:nvSpPr>
            <p:cNvPr id="45" name="Freeform: Shape 44">
              <a:extLst>
                <a:ext uri="{FF2B5EF4-FFF2-40B4-BE49-F238E27FC236}">
                  <a16:creationId xmlns:a16="http://schemas.microsoft.com/office/drawing/2014/main" id="{C05EB894-9410-4B20-95E4-7A25101AB89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2700000">
              <a:off x="-415188" y="-231223"/>
              <a:ext cx="1409491" cy="1876653"/>
            </a:xfrm>
            <a:custGeom>
              <a:avLst/>
              <a:gdLst>
                <a:gd name="connsiteX0" fmla="*/ 0 w 1409491"/>
                <a:gd name="connsiteY0" fmla="*/ 643075 h 1876653"/>
                <a:gd name="connsiteX1" fmla="*/ 643075 w 1409491"/>
                <a:gd name="connsiteY1" fmla="*/ 0 h 1876653"/>
                <a:gd name="connsiteX2" fmla="*/ 1409491 w 1409491"/>
                <a:gd name="connsiteY2" fmla="*/ 0 h 1876653"/>
                <a:gd name="connsiteX3" fmla="*/ 1409491 w 1409491"/>
                <a:gd name="connsiteY3" fmla="*/ 1876653 h 1876653"/>
                <a:gd name="connsiteX4" fmla="*/ 1233578 w 1409491"/>
                <a:gd name="connsiteY4" fmla="*/ 1876653 h 18766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491" h="1876653">
                  <a:moveTo>
                    <a:pt x="0" y="643075"/>
                  </a:moveTo>
                  <a:lnTo>
                    <a:pt x="643075" y="0"/>
                  </a:lnTo>
                  <a:lnTo>
                    <a:pt x="1409491" y="0"/>
                  </a:lnTo>
                  <a:lnTo>
                    <a:pt x="1409491" y="1876653"/>
                  </a:lnTo>
                  <a:lnTo>
                    <a:pt x="1233578" y="1876653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6" name="Rectangle 45">
              <a:extLst>
                <a:ext uri="{FF2B5EF4-FFF2-40B4-BE49-F238E27FC236}">
                  <a16:creationId xmlns:a16="http://schemas.microsoft.com/office/drawing/2014/main" id="{166E38B6-B050-4340-8E8F-3A971DADC03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2700000">
              <a:off x="301285" y="1282788"/>
              <a:ext cx="485578" cy="485578"/>
            </a:xfrm>
            <a:prstGeom prst="rect">
              <a:avLst/>
            </a:prstGeom>
            <a:solidFill>
              <a:schemeClr val="accent1">
                <a:alpha val="3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48" name="Rectangle 47">
            <a:extLst>
              <a:ext uri="{FF2B5EF4-FFF2-40B4-BE49-F238E27FC236}">
                <a16:creationId xmlns:a16="http://schemas.microsoft.com/office/drawing/2014/main" id="{2E80C965-DB6D-4F81-9E9E-B027384D0BD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700000">
            <a:off x="2737196" y="6033666"/>
            <a:ext cx="645368" cy="645368"/>
          </a:xfrm>
          <a:prstGeom prst="rect">
            <a:avLst/>
          </a:pr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0" name="Isosceles Triangle 49">
            <a:extLst>
              <a:ext uri="{FF2B5EF4-FFF2-40B4-BE49-F238E27FC236}">
                <a16:creationId xmlns:a16="http://schemas.microsoft.com/office/drawing/2014/main" id="{633C5E46-DAC5-4661-9C87-22B08E2A512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343436" y="5721108"/>
            <a:ext cx="2261965" cy="1136891"/>
          </a:xfrm>
          <a:prstGeom prst="triangle">
            <a:avLst>
              <a:gd name="adj" fmla="val 50000"/>
            </a:avLst>
          </a:pr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E8FD29C-AA9E-D24E-BA04-A7265F7F153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016084" y="547712"/>
            <a:ext cx="3720645" cy="5577367"/>
          </a:xfrm>
        </p:spPr>
        <p:txBody>
          <a:bodyPr>
            <a:normAutofit/>
          </a:bodyPr>
          <a:lstStyle/>
          <a:p>
            <a:r>
              <a:rPr lang="en-US" sz="5200" dirty="0"/>
              <a:t>On-Demand Instances</a:t>
            </a:r>
          </a:p>
        </p:txBody>
      </p:sp>
      <p:graphicFrame>
        <p:nvGraphicFramePr>
          <p:cNvPr id="25" name="Content Placeholder 2">
            <a:extLst>
              <a:ext uri="{FF2B5EF4-FFF2-40B4-BE49-F238E27FC236}">
                <a16:creationId xmlns:a16="http://schemas.microsoft.com/office/drawing/2014/main" id="{9BB10746-2234-48B8-A5C9-2E5C25447D87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30420841"/>
              </p:ext>
            </p:extLst>
          </p:nvPr>
        </p:nvGraphicFramePr>
        <p:xfrm>
          <a:off x="838200" y="620392"/>
          <a:ext cx="6630174" cy="550468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76696494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090" name="Group 2089">
            <a:extLst>
              <a:ext uri="{FF2B5EF4-FFF2-40B4-BE49-F238E27FC236}">
                <a16:creationId xmlns:a16="http://schemas.microsoft.com/office/drawing/2014/main" id="{7024687B-3153-123C-0A8C-D7D007FAF1B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1" y="-29768"/>
            <a:ext cx="12202175" cy="1519356"/>
            <a:chOff x="-1" y="-29768"/>
            <a:chExt cx="12202175" cy="1519356"/>
          </a:xfrm>
        </p:grpSpPr>
        <p:sp>
          <p:nvSpPr>
            <p:cNvPr id="2091" name="Rectangle 2090">
              <a:extLst>
                <a:ext uri="{FF2B5EF4-FFF2-40B4-BE49-F238E27FC236}">
                  <a16:creationId xmlns:a16="http://schemas.microsoft.com/office/drawing/2014/main" id="{8D6305F5-7509-0BF5-12D3-30451FCD732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6200000">
              <a:off x="5341412" y="-5371175"/>
              <a:ext cx="1519350" cy="12202174"/>
            </a:xfrm>
            <a:prstGeom prst="rect">
              <a:avLst/>
            </a:prstGeom>
            <a:gradFill>
              <a:gsLst>
                <a:gs pos="0">
                  <a:schemeClr val="accent5"/>
                </a:gs>
                <a:gs pos="100000">
                  <a:schemeClr val="accent2"/>
                </a:gs>
              </a:gsLst>
              <a:lin ang="102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092" name="Rectangle 2091">
              <a:extLst>
                <a:ext uri="{FF2B5EF4-FFF2-40B4-BE49-F238E27FC236}">
                  <a16:creationId xmlns:a16="http://schemas.microsoft.com/office/drawing/2014/main" id="{471C5C7A-6D55-5B27-646E-39C962693C3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6200000">
              <a:off x="8917093" y="-1801610"/>
              <a:ext cx="1507122" cy="5063040"/>
            </a:xfrm>
            <a:prstGeom prst="rect">
              <a:avLst/>
            </a:prstGeom>
            <a:gradFill>
              <a:gsLst>
                <a:gs pos="59000">
                  <a:schemeClr val="accent5">
                    <a:lumMod val="60000"/>
                    <a:lumOff val="40000"/>
                    <a:alpha val="0"/>
                  </a:schemeClr>
                </a:gs>
                <a:gs pos="100000">
                  <a:schemeClr val="accent5">
                    <a:lumMod val="60000"/>
                    <a:lumOff val="40000"/>
                  </a:schemeClr>
                </a:gs>
              </a:gsLst>
              <a:lin ang="12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093" name="Rectangle 2092">
              <a:extLst>
                <a:ext uri="{FF2B5EF4-FFF2-40B4-BE49-F238E27FC236}">
                  <a16:creationId xmlns:a16="http://schemas.microsoft.com/office/drawing/2014/main" id="{F3B3B1F4-948C-963C-E6EA-60CF7FBFA2F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5400000">
              <a:off x="3100712" y="-3130481"/>
              <a:ext cx="1519356" cy="7720782"/>
            </a:xfrm>
            <a:prstGeom prst="rect">
              <a:avLst/>
            </a:prstGeom>
            <a:gradFill>
              <a:gsLst>
                <a:gs pos="29000">
                  <a:schemeClr val="accent5">
                    <a:lumMod val="60000"/>
                    <a:lumOff val="40000"/>
                    <a:alpha val="0"/>
                  </a:schemeClr>
                </a:gs>
                <a:gs pos="100000">
                  <a:schemeClr val="accent5">
                    <a:lumMod val="75000"/>
                  </a:schemeClr>
                </a:gs>
              </a:gsLst>
              <a:lin ang="12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4" name="Title 1">
            <a:extLst>
              <a:ext uri="{FF2B5EF4-FFF2-40B4-BE49-F238E27FC236}">
                <a16:creationId xmlns:a16="http://schemas.microsoft.com/office/drawing/2014/main" id="{1D84950E-A8BA-28B8-867B-D3A3588BD748}"/>
              </a:ext>
            </a:extLst>
          </p:cNvPr>
          <p:cNvSpPr txBox="1">
            <a:spLocks/>
          </p:cNvSpPr>
          <p:nvPr/>
        </p:nvSpPr>
        <p:spPr>
          <a:xfrm>
            <a:off x="876691" y="301843"/>
            <a:ext cx="10477109" cy="100353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spcAft>
                <a:spcPts val="600"/>
              </a:spcAft>
            </a:pPr>
            <a:r>
              <a:rPr lang="en-US" sz="3200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What is Amazon EC2?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48D777D-FF07-2DF2-182E-48C278421511}"/>
              </a:ext>
            </a:extLst>
          </p:cNvPr>
          <p:cNvSpPr txBox="1"/>
          <p:nvPr/>
        </p:nvSpPr>
        <p:spPr>
          <a:xfrm>
            <a:off x="720090" y="1815082"/>
            <a:ext cx="5375909" cy="4166618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/>
          <a:p>
            <a:pPr defTabSz="914400">
              <a:lnSpc>
                <a:spcPct val="90000"/>
              </a:lnSpc>
              <a:spcAft>
                <a:spcPts val="600"/>
              </a:spcAft>
            </a:pPr>
            <a:r>
              <a:rPr lang="en-US" sz="2000" b="0" i="0" dirty="0">
                <a:effectLst/>
              </a:rPr>
              <a:t>Amazon Elastic Compute Cloud (Amazon EC2) provides on-demand, scalable computing capacity in the Amazon Web Services (AWS) Cloud. </a:t>
            </a:r>
          </a:p>
          <a:p>
            <a:pPr marL="342900" indent="-342900" defTabSz="914400">
              <a:lnSpc>
                <a:spcPct val="90000"/>
              </a:lnSpc>
              <a:spcAft>
                <a:spcPts val="600"/>
              </a:spcAft>
              <a:buFont typeface="Wingdings" pitchFamily="2" charset="2"/>
              <a:buChar char="è"/>
            </a:pPr>
            <a:r>
              <a:rPr lang="en-US" sz="2000" dirty="0">
                <a:sym typeface="Wingdings" pitchFamily="2" charset="2"/>
              </a:rPr>
              <a:t>VM on Cloud</a:t>
            </a:r>
          </a:p>
          <a:p>
            <a:pPr defTabSz="914400">
              <a:lnSpc>
                <a:spcPct val="90000"/>
              </a:lnSpc>
              <a:spcAft>
                <a:spcPts val="600"/>
              </a:spcAft>
            </a:pPr>
            <a:endParaRPr lang="en-US" sz="2000" b="0" i="0" dirty="0">
              <a:effectLst/>
            </a:endParaRPr>
          </a:p>
          <a:p>
            <a:pPr defTabSz="914400">
              <a:lnSpc>
                <a:spcPct val="90000"/>
              </a:lnSpc>
              <a:spcAft>
                <a:spcPts val="600"/>
              </a:spcAft>
            </a:pPr>
            <a:r>
              <a:rPr lang="en-US" sz="2000" b="0" i="0" dirty="0">
                <a:effectLst/>
              </a:rPr>
              <a:t>Using Amazon EC2 reduces hardware costs so you can develop and deploy applications faster. </a:t>
            </a:r>
          </a:p>
          <a:p>
            <a:pPr defTabSz="914400">
              <a:lnSpc>
                <a:spcPct val="90000"/>
              </a:lnSpc>
              <a:spcAft>
                <a:spcPts val="600"/>
              </a:spcAft>
            </a:pPr>
            <a:r>
              <a:rPr lang="en-US" sz="2000" b="0" i="0" dirty="0">
                <a:effectLst/>
                <a:sym typeface="Wingdings" pitchFamily="2" charset="2"/>
              </a:rPr>
              <a:t> Virtual hardware &amp; software</a:t>
            </a:r>
          </a:p>
          <a:p>
            <a:pPr defTabSz="914400">
              <a:lnSpc>
                <a:spcPct val="90000"/>
              </a:lnSpc>
              <a:spcAft>
                <a:spcPts val="600"/>
              </a:spcAft>
            </a:pPr>
            <a:endParaRPr lang="en-US" sz="2000" b="0" i="0" dirty="0">
              <a:effectLst/>
            </a:endParaRPr>
          </a:p>
          <a:p>
            <a:pPr defTabSz="914400">
              <a:lnSpc>
                <a:spcPct val="90000"/>
              </a:lnSpc>
              <a:spcAft>
                <a:spcPts val="600"/>
              </a:spcAft>
            </a:pPr>
            <a:r>
              <a:rPr lang="en-US" sz="2000" b="0" i="0" dirty="0">
                <a:effectLst/>
              </a:rPr>
              <a:t>You can use Amazon EC2 to launch as many or as few virtual servers as you need, configure security and networking, and manage storage.</a:t>
            </a:r>
          </a:p>
          <a:p>
            <a:pPr defTabSz="914400">
              <a:lnSpc>
                <a:spcPct val="90000"/>
              </a:lnSpc>
              <a:spcAft>
                <a:spcPts val="600"/>
              </a:spcAft>
            </a:pPr>
            <a:r>
              <a:rPr lang="en-US" sz="2000" dirty="0">
                <a:sym typeface="Wingdings" pitchFamily="2" charset="2"/>
              </a:rPr>
              <a:t> Virtual OS &amp; application</a:t>
            </a:r>
            <a:endParaRPr lang="en-US" sz="2000" b="0" i="0" dirty="0">
              <a:effectLst/>
            </a:endParaRPr>
          </a:p>
        </p:txBody>
      </p:sp>
      <p:pic>
        <p:nvPicPr>
          <p:cNvPr id="2050" name="Picture 2" descr="&#10;   A basic architecture diagram of an EC2 instance within a VPC.&#10;  ">
            <a:extLst>
              <a:ext uri="{FF2B5EF4-FFF2-40B4-BE49-F238E27FC236}">
                <a16:creationId xmlns:a16="http://schemas.microsoft.com/office/drawing/2014/main" id="{0388B383-EDFF-00F7-9FEB-1E94EBFFC84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6011594" y="1534577"/>
            <a:ext cx="6180406" cy="502158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29838785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Rectangle 21">
            <a:extLst>
              <a:ext uri="{FF2B5EF4-FFF2-40B4-BE49-F238E27FC236}">
                <a16:creationId xmlns:a16="http://schemas.microsoft.com/office/drawing/2014/main" id="{A4AC5506-6312-4701-8D3C-40187889A94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651752"/>
            <a:ext cx="12192000" cy="736551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7" name="Graphic 6" descr="Computer">
            <a:extLst>
              <a:ext uri="{FF2B5EF4-FFF2-40B4-BE49-F238E27FC236}">
                <a16:creationId xmlns:a16="http://schemas.microsoft.com/office/drawing/2014/main" id="{19A11142-1EAC-A898-7C03-9D1FC8BF3F9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37198" y="2540573"/>
            <a:ext cx="2814065" cy="2814065"/>
          </a:xfrm>
          <a:prstGeom prst="rect">
            <a:avLst/>
          </a:prstGeom>
        </p:spPr>
      </p:pic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0AE8B19E-6917-D463-5EEA-E549E4A3CE1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5"/>
          <a:stretch>
            <a:fillRect/>
          </a:stretch>
        </p:blipFill>
        <p:spPr>
          <a:xfrm>
            <a:off x="4395711" y="1829086"/>
            <a:ext cx="7550334" cy="4237037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1A0F69D7-3AC2-BE70-7E6C-BB2B0523382B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 rot="16200000">
            <a:off x="1140649" y="3789396"/>
            <a:ext cx="5410200" cy="608013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4014D337-B366-784B-9120-61A5799C533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6532" y="643467"/>
            <a:ext cx="11210925" cy="744836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en-US" sz="3200" kern="1200">
                <a:solidFill>
                  <a:schemeClr val="bg1"/>
                </a:solidFill>
                <a:latin typeface="+mj-lt"/>
                <a:ea typeface="+mj-ea"/>
                <a:cs typeface="+mj-cs"/>
              </a:rPr>
              <a:t>Commonly Used OS </a:t>
            </a:r>
          </a:p>
        </p:txBody>
      </p:sp>
    </p:spTree>
    <p:extLst>
      <p:ext uri="{BB962C8B-B14F-4D97-AF65-F5344CB8AC3E}">
        <p14:creationId xmlns:p14="http://schemas.microsoft.com/office/powerpoint/2010/main" val="314656162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B5DA30-E2EC-614F-9F41-0C3FCA4830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291090"/>
            <a:ext cx="10515599" cy="932688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ctr"/>
            <a:r>
              <a:rPr lang="en-US" sz="5400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Key Concepts</a:t>
            </a:r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305EE47E-34F3-A94B-9466-64D40F76937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134269" y="1863801"/>
            <a:ext cx="9923460" cy="44407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0846987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100EDD19-6802-4EC3-95CE-CFFAB042CFD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014D337-B366-784B-9120-61A5799C533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>
            <a:normAutofit/>
          </a:bodyPr>
          <a:lstStyle/>
          <a:p>
            <a:r>
              <a:rPr lang="en-US" sz="5400"/>
              <a:t>Availability Zones</a:t>
            </a:r>
          </a:p>
        </p:txBody>
      </p:sp>
      <p:sp>
        <p:nvSpPr>
          <p:cNvPr id="10" name="sketch line">
            <a:extLst>
              <a:ext uri="{FF2B5EF4-FFF2-40B4-BE49-F238E27FC236}">
                <a16:creationId xmlns:a16="http://schemas.microsoft.com/office/drawing/2014/main" id="{DB17E863-922E-4C26-BD64-E8FD41D2866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69036" y="1677373"/>
            <a:ext cx="10853928" cy="18288"/>
          </a:xfrm>
          <a:custGeom>
            <a:avLst/>
            <a:gdLst>
              <a:gd name="connsiteX0" fmla="*/ 0 w 10853928"/>
              <a:gd name="connsiteY0" fmla="*/ 0 h 18288"/>
              <a:gd name="connsiteX1" fmla="*/ 461292 w 10853928"/>
              <a:gd name="connsiteY1" fmla="*/ 0 h 18288"/>
              <a:gd name="connsiteX2" fmla="*/ 1139662 w 10853928"/>
              <a:gd name="connsiteY2" fmla="*/ 0 h 18288"/>
              <a:gd name="connsiteX3" fmla="*/ 1926572 w 10853928"/>
              <a:gd name="connsiteY3" fmla="*/ 0 h 18288"/>
              <a:gd name="connsiteX4" fmla="*/ 2279325 w 10853928"/>
              <a:gd name="connsiteY4" fmla="*/ 0 h 18288"/>
              <a:gd name="connsiteX5" fmla="*/ 2632078 w 10853928"/>
              <a:gd name="connsiteY5" fmla="*/ 0 h 18288"/>
              <a:gd name="connsiteX6" fmla="*/ 3527527 w 10853928"/>
              <a:gd name="connsiteY6" fmla="*/ 0 h 18288"/>
              <a:gd name="connsiteX7" fmla="*/ 4205897 w 10853928"/>
              <a:gd name="connsiteY7" fmla="*/ 0 h 18288"/>
              <a:gd name="connsiteX8" fmla="*/ 4558650 w 10853928"/>
              <a:gd name="connsiteY8" fmla="*/ 0 h 18288"/>
              <a:gd name="connsiteX9" fmla="*/ 5237020 w 10853928"/>
              <a:gd name="connsiteY9" fmla="*/ 0 h 18288"/>
              <a:gd name="connsiteX10" fmla="*/ 6132469 w 10853928"/>
              <a:gd name="connsiteY10" fmla="*/ 0 h 18288"/>
              <a:gd name="connsiteX11" fmla="*/ 6702301 w 10853928"/>
              <a:gd name="connsiteY11" fmla="*/ 0 h 18288"/>
              <a:gd name="connsiteX12" fmla="*/ 7272132 w 10853928"/>
              <a:gd name="connsiteY12" fmla="*/ 0 h 18288"/>
              <a:gd name="connsiteX13" fmla="*/ 7950502 w 10853928"/>
              <a:gd name="connsiteY13" fmla="*/ 0 h 18288"/>
              <a:gd name="connsiteX14" fmla="*/ 8737412 w 10853928"/>
              <a:gd name="connsiteY14" fmla="*/ 0 h 18288"/>
              <a:gd name="connsiteX15" fmla="*/ 9524322 w 10853928"/>
              <a:gd name="connsiteY15" fmla="*/ 0 h 18288"/>
              <a:gd name="connsiteX16" fmla="*/ 10853928 w 10853928"/>
              <a:gd name="connsiteY16" fmla="*/ 0 h 18288"/>
              <a:gd name="connsiteX17" fmla="*/ 10853928 w 10853928"/>
              <a:gd name="connsiteY17" fmla="*/ 18288 h 18288"/>
              <a:gd name="connsiteX18" fmla="*/ 10392636 w 10853928"/>
              <a:gd name="connsiteY18" fmla="*/ 18288 h 18288"/>
              <a:gd name="connsiteX19" fmla="*/ 9497187 w 10853928"/>
              <a:gd name="connsiteY19" fmla="*/ 18288 h 18288"/>
              <a:gd name="connsiteX20" fmla="*/ 8818817 w 10853928"/>
              <a:gd name="connsiteY20" fmla="*/ 18288 h 18288"/>
              <a:gd name="connsiteX21" fmla="*/ 8466064 w 10853928"/>
              <a:gd name="connsiteY21" fmla="*/ 18288 h 18288"/>
              <a:gd name="connsiteX22" fmla="*/ 7787693 w 10853928"/>
              <a:gd name="connsiteY22" fmla="*/ 18288 h 18288"/>
              <a:gd name="connsiteX23" fmla="*/ 7217862 w 10853928"/>
              <a:gd name="connsiteY23" fmla="*/ 18288 h 18288"/>
              <a:gd name="connsiteX24" fmla="*/ 6648031 w 10853928"/>
              <a:gd name="connsiteY24" fmla="*/ 18288 h 18288"/>
              <a:gd name="connsiteX25" fmla="*/ 6078200 w 10853928"/>
              <a:gd name="connsiteY25" fmla="*/ 18288 h 18288"/>
              <a:gd name="connsiteX26" fmla="*/ 5508368 w 10853928"/>
              <a:gd name="connsiteY26" fmla="*/ 18288 h 18288"/>
              <a:gd name="connsiteX27" fmla="*/ 4721459 w 10853928"/>
              <a:gd name="connsiteY27" fmla="*/ 18288 h 18288"/>
              <a:gd name="connsiteX28" fmla="*/ 4043088 w 10853928"/>
              <a:gd name="connsiteY28" fmla="*/ 18288 h 18288"/>
              <a:gd name="connsiteX29" fmla="*/ 3690336 w 10853928"/>
              <a:gd name="connsiteY29" fmla="*/ 18288 h 18288"/>
              <a:gd name="connsiteX30" fmla="*/ 3120504 w 10853928"/>
              <a:gd name="connsiteY30" fmla="*/ 18288 h 18288"/>
              <a:gd name="connsiteX31" fmla="*/ 2333595 w 10853928"/>
              <a:gd name="connsiteY31" fmla="*/ 18288 h 18288"/>
              <a:gd name="connsiteX32" fmla="*/ 1872303 w 10853928"/>
              <a:gd name="connsiteY32" fmla="*/ 18288 h 18288"/>
              <a:gd name="connsiteX33" fmla="*/ 976854 w 10853928"/>
              <a:gd name="connsiteY33" fmla="*/ 18288 h 18288"/>
              <a:gd name="connsiteX34" fmla="*/ 0 w 10853928"/>
              <a:gd name="connsiteY34" fmla="*/ 18288 h 18288"/>
              <a:gd name="connsiteX35" fmla="*/ 0 w 10853928"/>
              <a:gd name="connsiteY35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</a:cxnLst>
            <a:rect l="l" t="t" r="r" b="b"/>
            <a:pathLst>
              <a:path w="10853928" h="18288" fill="none" extrusionOk="0">
                <a:moveTo>
                  <a:pt x="0" y="0"/>
                </a:moveTo>
                <a:cubicBezTo>
                  <a:pt x="146993" y="-19076"/>
                  <a:pt x="347684" y="-4790"/>
                  <a:pt x="461292" y="0"/>
                </a:cubicBezTo>
                <a:cubicBezTo>
                  <a:pt x="574900" y="4790"/>
                  <a:pt x="808367" y="19821"/>
                  <a:pt x="1139662" y="0"/>
                </a:cubicBezTo>
                <a:cubicBezTo>
                  <a:pt x="1470957" y="-19821"/>
                  <a:pt x="1627405" y="5721"/>
                  <a:pt x="1926572" y="0"/>
                </a:cubicBezTo>
                <a:cubicBezTo>
                  <a:pt x="2225739" y="-5721"/>
                  <a:pt x="2137730" y="-3235"/>
                  <a:pt x="2279325" y="0"/>
                </a:cubicBezTo>
                <a:cubicBezTo>
                  <a:pt x="2420920" y="3235"/>
                  <a:pt x="2456518" y="9685"/>
                  <a:pt x="2632078" y="0"/>
                </a:cubicBezTo>
                <a:cubicBezTo>
                  <a:pt x="2807638" y="-9685"/>
                  <a:pt x="3211516" y="-43007"/>
                  <a:pt x="3527527" y="0"/>
                </a:cubicBezTo>
                <a:cubicBezTo>
                  <a:pt x="3843538" y="43007"/>
                  <a:pt x="4058833" y="22042"/>
                  <a:pt x="4205897" y="0"/>
                </a:cubicBezTo>
                <a:cubicBezTo>
                  <a:pt x="4352961" y="-22042"/>
                  <a:pt x="4474805" y="-11846"/>
                  <a:pt x="4558650" y="0"/>
                </a:cubicBezTo>
                <a:cubicBezTo>
                  <a:pt x="4642495" y="11846"/>
                  <a:pt x="5041928" y="-6069"/>
                  <a:pt x="5237020" y="0"/>
                </a:cubicBezTo>
                <a:cubicBezTo>
                  <a:pt x="5432112" y="6069"/>
                  <a:pt x="5943266" y="-17479"/>
                  <a:pt x="6132469" y="0"/>
                </a:cubicBezTo>
                <a:cubicBezTo>
                  <a:pt x="6321672" y="17479"/>
                  <a:pt x="6483872" y="26234"/>
                  <a:pt x="6702301" y="0"/>
                </a:cubicBezTo>
                <a:cubicBezTo>
                  <a:pt x="6920730" y="-26234"/>
                  <a:pt x="6991194" y="-15156"/>
                  <a:pt x="7272132" y="0"/>
                </a:cubicBezTo>
                <a:cubicBezTo>
                  <a:pt x="7553070" y="15156"/>
                  <a:pt x="7684444" y="-32961"/>
                  <a:pt x="7950502" y="0"/>
                </a:cubicBezTo>
                <a:cubicBezTo>
                  <a:pt x="8216560" y="32961"/>
                  <a:pt x="8493290" y="-10491"/>
                  <a:pt x="8737412" y="0"/>
                </a:cubicBezTo>
                <a:cubicBezTo>
                  <a:pt x="8981534" y="10491"/>
                  <a:pt x="9191586" y="-13899"/>
                  <a:pt x="9524322" y="0"/>
                </a:cubicBezTo>
                <a:cubicBezTo>
                  <a:pt x="9857058" y="13899"/>
                  <a:pt x="10297509" y="7485"/>
                  <a:pt x="10853928" y="0"/>
                </a:cubicBezTo>
                <a:cubicBezTo>
                  <a:pt x="10854574" y="4451"/>
                  <a:pt x="10854418" y="9226"/>
                  <a:pt x="10853928" y="18288"/>
                </a:cubicBezTo>
                <a:cubicBezTo>
                  <a:pt x="10691638" y="28522"/>
                  <a:pt x="10574319" y="29578"/>
                  <a:pt x="10392636" y="18288"/>
                </a:cubicBezTo>
                <a:cubicBezTo>
                  <a:pt x="10210953" y="6998"/>
                  <a:pt x="9836277" y="-16742"/>
                  <a:pt x="9497187" y="18288"/>
                </a:cubicBezTo>
                <a:cubicBezTo>
                  <a:pt x="9158097" y="53318"/>
                  <a:pt x="9119479" y="30714"/>
                  <a:pt x="8818817" y="18288"/>
                </a:cubicBezTo>
                <a:cubicBezTo>
                  <a:pt x="8518155" y="5863"/>
                  <a:pt x="8640037" y="6483"/>
                  <a:pt x="8466064" y="18288"/>
                </a:cubicBezTo>
                <a:cubicBezTo>
                  <a:pt x="8292091" y="30093"/>
                  <a:pt x="7997656" y="18914"/>
                  <a:pt x="7787693" y="18288"/>
                </a:cubicBezTo>
                <a:cubicBezTo>
                  <a:pt x="7577730" y="17662"/>
                  <a:pt x="7412468" y="21416"/>
                  <a:pt x="7217862" y="18288"/>
                </a:cubicBezTo>
                <a:cubicBezTo>
                  <a:pt x="7023256" y="15160"/>
                  <a:pt x="6898018" y="14824"/>
                  <a:pt x="6648031" y="18288"/>
                </a:cubicBezTo>
                <a:cubicBezTo>
                  <a:pt x="6398044" y="21752"/>
                  <a:pt x="6254402" y="38625"/>
                  <a:pt x="6078200" y="18288"/>
                </a:cubicBezTo>
                <a:cubicBezTo>
                  <a:pt x="5901998" y="-2049"/>
                  <a:pt x="5622886" y="3213"/>
                  <a:pt x="5508368" y="18288"/>
                </a:cubicBezTo>
                <a:cubicBezTo>
                  <a:pt x="5393850" y="33363"/>
                  <a:pt x="5036260" y="26830"/>
                  <a:pt x="4721459" y="18288"/>
                </a:cubicBezTo>
                <a:cubicBezTo>
                  <a:pt x="4406658" y="9746"/>
                  <a:pt x="4239221" y="41551"/>
                  <a:pt x="4043088" y="18288"/>
                </a:cubicBezTo>
                <a:cubicBezTo>
                  <a:pt x="3846955" y="-4975"/>
                  <a:pt x="3818802" y="34658"/>
                  <a:pt x="3690336" y="18288"/>
                </a:cubicBezTo>
                <a:cubicBezTo>
                  <a:pt x="3561870" y="1918"/>
                  <a:pt x="3265491" y="42194"/>
                  <a:pt x="3120504" y="18288"/>
                </a:cubicBezTo>
                <a:cubicBezTo>
                  <a:pt x="2975517" y="-5618"/>
                  <a:pt x="2720254" y="36673"/>
                  <a:pt x="2333595" y="18288"/>
                </a:cubicBezTo>
                <a:cubicBezTo>
                  <a:pt x="1946936" y="-97"/>
                  <a:pt x="2097241" y="5776"/>
                  <a:pt x="1872303" y="18288"/>
                </a:cubicBezTo>
                <a:cubicBezTo>
                  <a:pt x="1647365" y="30800"/>
                  <a:pt x="1282708" y="45380"/>
                  <a:pt x="976854" y="18288"/>
                </a:cubicBezTo>
                <a:cubicBezTo>
                  <a:pt x="671000" y="-8804"/>
                  <a:pt x="408401" y="-12775"/>
                  <a:pt x="0" y="18288"/>
                </a:cubicBezTo>
                <a:cubicBezTo>
                  <a:pt x="-213" y="9468"/>
                  <a:pt x="187" y="4459"/>
                  <a:pt x="0" y="0"/>
                </a:cubicBezTo>
                <a:close/>
              </a:path>
              <a:path w="10853928" h="18288" stroke="0" extrusionOk="0">
                <a:moveTo>
                  <a:pt x="0" y="0"/>
                </a:moveTo>
                <a:cubicBezTo>
                  <a:pt x="267322" y="15284"/>
                  <a:pt x="415388" y="-21048"/>
                  <a:pt x="569831" y="0"/>
                </a:cubicBezTo>
                <a:cubicBezTo>
                  <a:pt x="724274" y="21048"/>
                  <a:pt x="769333" y="-2353"/>
                  <a:pt x="922584" y="0"/>
                </a:cubicBezTo>
                <a:cubicBezTo>
                  <a:pt x="1075835" y="2353"/>
                  <a:pt x="1399490" y="-145"/>
                  <a:pt x="1818033" y="0"/>
                </a:cubicBezTo>
                <a:cubicBezTo>
                  <a:pt x="2236576" y="145"/>
                  <a:pt x="2145330" y="5482"/>
                  <a:pt x="2387864" y="0"/>
                </a:cubicBezTo>
                <a:cubicBezTo>
                  <a:pt x="2630398" y="-5482"/>
                  <a:pt x="2793207" y="18487"/>
                  <a:pt x="2957695" y="0"/>
                </a:cubicBezTo>
                <a:cubicBezTo>
                  <a:pt x="3122183" y="-18487"/>
                  <a:pt x="3579141" y="19003"/>
                  <a:pt x="3853144" y="0"/>
                </a:cubicBezTo>
                <a:cubicBezTo>
                  <a:pt x="4127147" y="-19003"/>
                  <a:pt x="4209857" y="12211"/>
                  <a:pt x="4314436" y="0"/>
                </a:cubicBezTo>
                <a:cubicBezTo>
                  <a:pt x="4419015" y="-12211"/>
                  <a:pt x="4762459" y="-17220"/>
                  <a:pt x="5209885" y="0"/>
                </a:cubicBezTo>
                <a:cubicBezTo>
                  <a:pt x="5657311" y="17220"/>
                  <a:pt x="5692663" y="-3290"/>
                  <a:pt x="6105335" y="0"/>
                </a:cubicBezTo>
                <a:cubicBezTo>
                  <a:pt x="6518007" y="3290"/>
                  <a:pt x="6455516" y="-5124"/>
                  <a:pt x="6783705" y="0"/>
                </a:cubicBezTo>
                <a:cubicBezTo>
                  <a:pt x="7111894" y="5124"/>
                  <a:pt x="7441941" y="-17829"/>
                  <a:pt x="7679154" y="0"/>
                </a:cubicBezTo>
                <a:cubicBezTo>
                  <a:pt x="7916367" y="17829"/>
                  <a:pt x="8102967" y="-24363"/>
                  <a:pt x="8248985" y="0"/>
                </a:cubicBezTo>
                <a:cubicBezTo>
                  <a:pt x="8395003" y="24363"/>
                  <a:pt x="8552393" y="25505"/>
                  <a:pt x="8818817" y="0"/>
                </a:cubicBezTo>
                <a:cubicBezTo>
                  <a:pt x="9085241" y="-25505"/>
                  <a:pt x="9411308" y="38000"/>
                  <a:pt x="9605726" y="0"/>
                </a:cubicBezTo>
                <a:cubicBezTo>
                  <a:pt x="9800144" y="-38000"/>
                  <a:pt x="10006468" y="-25741"/>
                  <a:pt x="10175558" y="0"/>
                </a:cubicBezTo>
                <a:cubicBezTo>
                  <a:pt x="10344648" y="25741"/>
                  <a:pt x="10696282" y="695"/>
                  <a:pt x="10853928" y="0"/>
                </a:cubicBezTo>
                <a:cubicBezTo>
                  <a:pt x="10853521" y="8690"/>
                  <a:pt x="10853774" y="14141"/>
                  <a:pt x="10853928" y="18288"/>
                </a:cubicBezTo>
                <a:cubicBezTo>
                  <a:pt x="10608124" y="24255"/>
                  <a:pt x="10343415" y="22307"/>
                  <a:pt x="10067018" y="18288"/>
                </a:cubicBezTo>
                <a:cubicBezTo>
                  <a:pt x="9790621" y="14270"/>
                  <a:pt x="9843266" y="3564"/>
                  <a:pt x="9714266" y="18288"/>
                </a:cubicBezTo>
                <a:cubicBezTo>
                  <a:pt x="9585266" y="33012"/>
                  <a:pt x="9379484" y="1875"/>
                  <a:pt x="9252974" y="18288"/>
                </a:cubicBezTo>
                <a:cubicBezTo>
                  <a:pt x="9126464" y="34701"/>
                  <a:pt x="8580678" y="-4904"/>
                  <a:pt x="8357525" y="18288"/>
                </a:cubicBezTo>
                <a:cubicBezTo>
                  <a:pt x="8134372" y="41480"/>
                  <a:pt x="7903199" y="26458"/>
                  <a:pt x="7679154" y="18288"/>
                </a:cubicBezTo>
                <a:cubicBezTo>
                  <a:pt x="7455109" y="10118"/>
                  <a:pt x="7435944" y="27109"/>
                  <a:pt x="7217862" y="18288"/>
                </a:cubicBezTo>
                <a:cubicBezTo>
                  <a:pt x="6999780" y="9467"/>
                  <a:pt x="6680409" y="18985"/>
                  <a:pt x="6539492" y="18288"/>
                </a:cubicBezTo>
                <a:cubicBezTo>
                  <a:pt x="6398575" y="17592"/>
                  <a:pt x="6312077" y="33018"/>
                  <a:pt x="6186739" y="18288"/>
                </a:cubicBezTo>
                <a:cubicBezTo>
                  <a:pt x="6061401" y="3558"/>
                  <a:pt x="5947033" y="12075"/>
                  <a:pt x="5833986" y="18288"/>
                </a:cubicBezTo>
                <a:cubicBezTo>
                  <a:pt x="5720939" y="24501"/>
                  <a:pt x="5482226" y="8586"/>
                  <a:pt x="5155616" y="18288"/>
                </a:cubicBezTo>
                <a:cubicBezTo>
                  <a:pt x="4829006" y="27991"/>
                  <a:pt x="4841274" y="29316"/>
                  <a:pt x="4694324" y="18288"/>
                </a:cubicBezTo>
                <a:cubicBezTo>
                  <a:pt x="4547374" y="7260"/>
                  <a:pt x="4077675" y="7013"/>
                  <a:pt x="3907414" y="18288"/>
                </a:cubicBezTo>
                <a:cubicBezTo>
                  <a:pt x="3737153" y="29564"/>
                  <a:pt x="3538393" y="21630"/>
                  <a:pt x="3446122" y="18288"/>
                </a:cubicBezTo>
                <a:cubicBezTo>
                  <a:pt x="3353851" y="14946"/>
                  <a:pt x="2990320" y="-8091"/>
                  <a:pt x="2659212" y="18288"/>
                </a:cubicBezTo>
                <a:cubicBezTo>
                  <a:pt x="2328104" y="44667"/>
                  <a:pt x="2427653" y="9607"/>
                  <a:pt x="2306460" y="18288"/>
                </a:cubicBezTo>
                <a:cubicBezTo>
                  <a:pt x="2185267" y="26969"/>
                  <a:pt x="1719763" y="3717"/>
                  <a:pt x="1519550" y="18288"/>
                </a:cubicBezTo>
                <a:cubicBezTo>
                  <a:pt x="1319337" y="32860"/>
                  <a:pt x="1167371" y="17040"/>
                  <a:pt x="1058258" y="18288"/>
                </a:cubicBezTo>
                <a:cubicBezTo>
                  <a:pt x="949145" y="19536"/>
                  <a:pt x="780234" y="31447"/>
                  <a:pt x="705505" y="18288"/>
                </a:cubicBezTo>
                <a:cubicBezTo>
                  <a:pt x="630776" y="5129"/>
                  <a:pt x="215796" y="30056"/>
                  <a:pt x="0" y="18288"/>
                </a:cubicBezTo>
                <a:cubicBezTo>
                  <a:pt x="-53" y="11301"/>
                  <a:pt x="-649" y="7756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16B0F2B-B9AB-0648-A049-B8156A66603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929384"/>
            <a:ext cx="10515600" cy="425196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200"/>
              <a:t>“</a:t>
            </a:r>
            <a:r>
              <a:rPr lang="en-CA" sz="2200"/>
              <a:t>AWS has the concept of a Region, which is a physical location around the world where we cluster data centers. We call each group of logical data centers an Availability Zone. </a:t>
            </a:r>
          </a:p>
          <a:p>
            <a:pPr marL="0" indent="0">
              <a:buNone/>
            </a:pPr>
            <a:r>
              <a:rPr lang="en-CA" sz="2200"/>
              <a:t>Each AWS Region consists of multiple, isolated, and physically separate AZs within a geographic area. </a:t>
            </a:r>
          </a:p>
          <a:p>
            <a:pPr marL="0" indent="0">
              <a:buNone/>
            </a:pPr>
            <a:r>
              <a:rPr lang="en-CA" sz="2200"/>
              <a:t>Each AZ has independent power, cooling, and physical security and is connected via redundant, ultra-low-latency networks.</a:t>
            </a:r>
            <a:r>
              <a:rPr lang="en-US" sz="2200"/>
              <a:t>”</a:t>
            </a:r>
          </a:p>
          <a:p>
            <a:pPr marL="0" indent="0">
              <a:buNone/>
            </a:pPr>
            <a:r>
              <a:rPr lang="en-US" sz="2200"/>
              <a:t>By AWS</a:t>
            </a:r>
          </a:p>
          <a:p>
            <a:pPr marL="0" indent="0">
              <a:buNone/>
            </a:pPr>
            <a:r>
              <a:rPr lang="en-CA" sz="2200">
                <a:hlinkClick r:id="rId3"/>
              </a:rPr>
              <a:t>https://infrastructure.aws/</a:t>
            </a:r>
            <a:r>
              <a:rPr lang="en-CA" sz="2200"/>
              <a:t> </a:t>
            </a:r>
            <a:endParaRPr lang="en-US" sz="2200"/>
          </a:p>
        </p:txBody>
      </p:sp>
    </p:spTree>
    <p:extLst>
      <p:ext uri="{BB962C8B-B14F-4D97-AF65-F5344CB8AC3E}">
        <p14:creationId xmlns:p14="http://schemas.microsoft.com/office/powerpoint/2010/main" val="235283375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4" name="Rectangle 13">
            <a:extLst>
              <a:ext uri="{FF2B5EF4-FFF2-40B4-BE49-F238E27FC236}">
                <a16:creationId xmlns:a16="http://schemas.microsoft.com/office/drawing/2014/main" id="{665DBBEF-238B-476B-96AB-8AAC3224ECE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D0547E3-7473-5C47-96BC-45373F0FEE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8882" y="639193"/>
            <a:ext cx="3571810" cy="3573516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6100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Availability Zones</a:t>
            </a:r>
          </a:p>
        </p:txBody>
      </p:sp>
      <p:sp>
        <p:nvSpPr>
          <p:cNvPr id="16" name="sketch line">
            <a:extLst>
              <a:ext uri="{FF2B5EF4-FFF2-40B4-BE49-F238E27FC236}">
                <a16:creationId xmlns:a16="http://schemas.microsoft.com/office/drawing/2014/main" id="{3FCFB1DE-0B7E-48CC-BA90-B2AB0889F9D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3278" y="4409267"/>
            <a:ext cx="3255095" cy="18288"/>
          </a:xfrm>
          <a:custGeom>
            <a:avLst/>
            <a:gdLst>
              <a:gd name="connsiteX0" fmla="*/ 0 w 3255095"/>
              <a:gd name="connsiteY0" fmla="*/ 0 h 18288"/>
              <a:gd name="connsiteX1" fmla="*/ 618468 w 3255095"/>
              <a:gd name="connsiteY1" fmla="*/ 0 h 18288"/>
              <a:gd name="connsiteX2" fmla="*/ 1269487 w 3255095"/>
              <a:gd name="connsiteY2" fmla="*/ 0 h 18288"/>
              <a:gd name="connsiteX3" fmla="*/ 1953057 w 3255095"/>
              <a:gd name="connsiteY3" fmla="*/ 0 h 18288"/>
              <a:gd name="connsiteX4" fmla="*/ 2636627 w 3255095"/>
              <a:gd name="connsiteY4" fmla="*/ 0 h 18288"/>
              <a:gd name="connsiteX5" fmla="*/ 3255095 w 3255095"/>
              <a:gd name="connsiteY5" fmla="*/ 0 h 18288"/>
              <a:gd name="connsiteX6" fmla="*/ 3255095 w 3255095"/>
              <a:gd name="connsiteY6" fmla="*/ 18288 h 18288"/>
              <a:gd name="connsiteX7" fmla="*/ 2538974 w 3255095"/>
              <a:gd name="connsiteY7" fmla="*/ 18288 h 18288"/>
              <a:gd name="connsiteX8" fmla="*/ 1822853 w 3255095"/>
              <a:gd name="connsiteY8" fmla="*/ 18288 h 18288"/>
              <a:gd name="connsiteX9" fmla="*/ 1171834 w 3255095"/>
              <a:gd name="connsiteY9" fmla="*/ 18288 h 18288"/>
              <a:gd name="connsiteX10" fmla="*/ 0 w 3255095"/>
              <a:gd name="connsiteY10" fmla="*/ 18288 h 18288"/>
              <a:gd name="connsiteX11" fmla="*/ 0 w 3255095"/>
              <a:gd name="connsiteY11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3255095" h="18288" fill="none" extrusionOk="0">
                <a:moveTo>
                  <a:pt x="0" y="0"/>
                </a:moveTo>
                <a:cubicBezTo>
                  <a:pt x="240201" y="-22123"/>
                  <a:pt x="462021" y="-19623"/>
                  <a:pt x="618468" y="0"/>
                </a:cubicBezTo>
                <a:cubicBezTo>
                  <a:pt x="774915" y="19623"/>
                  <a:pt x="974734" y="2035"/>
                  <a:pt x="1269487" y="0"/>
                </a:cubicBezTo>
                <a:cubicBezTo>
                  <a:pt x="1564240" y="-2035"/>
                  <a:pt x="1733579" y="10639"/>
                  <a:pt x="1953057" y="0"/>
                </a:cubicBezTo>
                <a:cubicBezTo>
                  <a:pt x="2172535" y="-10639"/>
                  <a:pt x="2453962" y="14018"/>
                  <a:pt x="2636627" y="0"/>
                </a:cubicBezTo>
                <a:cubicBezTo>
                  <a:pt x="2819292" y="-14018"/>
                  <a:pt x="3121375" y="5399"/>
                  <a:pt x="3255095" y="0"/>
                </a:cubicBezTo>
                <a:cubicBezTo>
                  <a:pt x="3254386" y="8157"/>
                  <a:pt x="3254682" y="12125"/>
                  <a:pt x="3255095" y="18288"/>
                </a:cubicBezTo>
                <a:cubicBezTo>
                  <a:pt x="3088545" y="23203"/>
                  <a:pt x="2687475" y="7419"/>
                  <a:pt x="2538974" y="18288"/>
                </a:cubicBezTo>
                <a:cubicBezTo>
                  <a:pt x="2390473" y="29157"/>
                  <a:pt x="2137381" y="-8959"/>
                  <a:pt x="1822853" y="18288"/>
                </a:cubicBezTo>
                <a:cubicBezTo>
                  <a:pt x="1508325" y="45535"/>
                  <a:pt x="1466437" y="20385"/>
                  <a:pt x="1171834" y="18288"/>
                </a:cubicBezTo>
                <a:cubicBezTo>
                  <a:pt x="877231" y="16191"/>
                  <a:pt x="561097" y="37643"/>
                  <a:pt x="0" y="18288"/>
                </a:cubicBezTo>
                <a:cubicBezTo>
                  <a:pt x="-46" y="12483"/>
                  <a:pt x="-203" y="6491"/>
                  <a:pt x="0" y="0"/>
                </a:cubicBezTo>
                <a:close/>
              </a:path>
              <a:path w="3255095" h="18288" stroke="0" extrusionOk="0">
                <a:moveTo>
                  <a:pt x="0" y="0"/>
                </a:moveTo>
                <a:cubicBezTo>
                  <a:pt x="291965" y="19429"/>
                  <a:pt x="363155" y="8568"/>
                  <a:pt x="618468" y="0"/>
                </a:cubicBezTo>
                <a:cubicBezTo>
                  <a:pt x="873781" y="-8568"/>
                  <a:pt x="904459" y="-19505"/>
                  <a:pt x="1171834" y="0"/>
                </a:cubicBezTo>
                <a:cubicBezTo>
                  <a:pt x="1439209" y="19505"/>
                  <a:pt x="1744369" y="9790"/>
                  <a:pt x="1887955" y="0"/>
                </a:cubicBezTo>
                <a:cubicBezTo>
                  <a:pt x="2031541" y="-9790"/>
                  <a:pt x="2346378" y="21240"/>
                  <a:pt x="2506423" y="0"/>
                </a:cubicBezTo>
                <a:cubicBezTo>
                  <a:pt x="2666468" y="-21240"/>
                  <a:pt x="2990257" y="30414"/>
                  <a:pt x="3255095" y="0"/>
                </a:cubicBezTo>
                <a:cubicBezTo>
                  <a:pt x="3254831" y="4493"/>
                  <a:pt x="3255479" y="9472"/>
                  <a:pt x="3255095" y="18288"/>
                </a:cubicBezTo>
                <a:cubicBezTo>
                  <a:pt x="3120743" y="16690"/>
                  <a:pt x="2759628" y="42462"/>
                  <a:pt x="2604076" y="18288"/>
                </a:cubicBezTo>
                <a:cubicBezTo>
                  <a:pt x="2448524" y="-5886"/>
                  <a:pt x="2184336" y="19599"/>
                  <a:pt x="1887955" y="18288"/>
                </a:cubicBezTo>
                <a:cubicBezTo>
                  <a:pt x="1591574" y="16977"/>
                  <a:pt x="1548845" y="6870"/>
                  <a:pt x="1334589" y="18288"/>
                </a:cubicBezTo>
                <a:cubicBezTo>
                  <a:pt x="1120333" y="29706"/>
                  <a:pt x="996014" y="9662"/>
                  <a:pt x="683570" y="18288"/>
                </a:cubicBezTo>
                <a:cubicBezTo>
                  <a:pt x="371126" y="26914"/>
                  <a:pt x="198687" y="16167"/>
                  <a:pt x="0" y="18288"/>
                </a:cubicBezTo>
                <a:cubicBezTo>
                  <a:pt x="843" y="9577"/>
                  <a:pt x="371" y="6900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38100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7868ACF5-C5CC-824F-AE5F-BFBDCDE8975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4654296" y="926242"/>
            <a:ext cx="7214616" cy="49780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3034750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26" name="Rectangle 217">
            <a:extLst>
              <a:ext uri="{FF2B5EF4-FFF2-40B4-BE49-F238E27FC236}">
                <a16:creationId xmlns:a16="http://schemas.microsoft.com/office/drawing/2014/main" id="{081EA652-8C6A-4E69-BEB9-17080947455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7" name="Right Triangle 219">
            <a:extLst>
              <a:ext uri="{FF2B5EF4-FFF2-40B4-BE49-F238E27FC236}">
                <a16:creationId xmlns:a16="http://schemas.microsoft.com/office/drawing/2014/main" id="{5298780A-33B9-4EA2-8F67-DE68AD62841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576720" y="3335867"/>
            <a:ext cx="3291840" cy="3200400"/>
          </a:xfrm>
          <a:prstGeom prst="rtTriangl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28" name="Rectangle 221">
            <a:extLst>
              <a:ext uri="{FF2B5EF4-FFF2-40B4-BE49-F238E27FC236}">
                <a16:creationId xmlns:a16="http://schemas.microsoft.com/office/drawing/2014/main" id="{7F488E8B-4E1E-4402-8935-D4E6C02615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1774" y="623275"/>
            <a:ext cx="10905053" cy="5607882"/>
          </a:xfrm>
          <a:prstGeom prst="rect">
            <a:avLst/>
          </a:prstGeom>
          <a:noFill/>
          <a:ln w="1905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E611C3D-6836-CE48-9853-EE5EF28B63C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85240" y="1050595"/>
            <a:ext cx="8074815" cy="1618489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7200" kern="1200">
                <a:latin typeface="+mj-lt"/>
                <a:ea typeface="+mj-ea"/>
                <a:cs typeface="+mj-cs"/>
              </a:rPr>
              <a:t>Instance Types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AA86D85-8B92-CE45-AC19-922BFF0D77B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85240" y="2969469"/>
            <a:ext cx="8074815" cy="2800395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0" indent="0">
              <a:buNone/>
            </a:pPr>
            <a:r>
              <a:rPr lang="en-US" sz="2400" kern="1200">
                <a:latin typeface="+mn-lt"/>
                <a:ea typeface="+mn-ea"/>
                <a:cs typeface="+mn-cs"/>
              </a:rPr>
              <a:t>Allow you to specify the hardware of the host computer to accommodate your application’s needs</a:t>
            </a:r>
          </a:p>
        </p:txBody>
      </p:sp>
    </p:spTree>
    <p:extLst>
      <p:ext uri="{BB962C8B-B14F-4D97-AF65-F5344CB8AC3E}">
        <p14:creationId xmlns:p14="http://schemas.microsoft.com/office/powerpoint/2010/main" val="285765735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 8">
            <a:extLst>
              <a:ext uri="{FF2B5EF4-FFF2-40B4-BE49-F238E27FC236}">
                <a16:creationId xmlns:a16="http://schemas.microsoft.com/office/drawing/2014/main" id="{823AC064-BC96-4F32-8AE1-B2FD3875482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ltGray">
          <a:xfrm>
            <a:off x="378068" y="4633546"/>
            <a:ext cx="11438793" cy="1844256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 w="127000" cap="sq" cmpd="thinThick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4D3C4C4-5AAB-9F42-A2AA-24CC0AC533A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6073" y="4756638"/>
            <a:ext cx="11139854" cy="930447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ctr"/>
            <a:r>
              <a:rPr lang="en-US" sz="5400" kern="1200">
                <a:solidFill>
                  <a:schemeClr val="bg1"/>
                </a:solidFill>
                <a:latin typeface="+mj-lt"/>
                <a:ea typeface="+mj-ea"/>
                <a:cs typeface="+mj-cs"/>
              </a:rPr>
              <a:t>Instance Families</a:t>
            </a:r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A8C13B09-EEA5-224B-9948-97A958D6BFF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08403" y="307731"/>
            <a:ext cx="10520094" cy="3997637"/>
          </a:xfrm>
          <a:prstGeom prst="rect">
            <a:avLst/>
          </a:prstGeom>
        </p:spPr>
      </p:pic>
      <p:cxnSp>
        <p:nvCxnSpPr>
          <p:cNvPr id="18" name="Straight Connector 10">
            <a:extLst>
              <a:ext uri="{FF2B5EF4-FFF2-40B4-BE49-F238E27FC236}">
                <a16:creationId xmlns:a16="http://schemas.microsoft.com/office/drawing/2014/main" id="{7E7C77BC-7138-40B1-A15B-20F57A49462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2209800" y="5738691"/>
            <a:ext cx="7772400" cy="0"/>
          </a:xfrm>
          <a:prstGeom prst="line">
            <a:avLst/>
          </a:prstGeom>
          <a:ln w="22225">
            <a:solidFill>
              <a:srgbClr val="D9D9D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68385100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angle 12">
            <a:extLst>
              <a:ext uri="{FF2B5EF4-FFF2-40B4-BE49-F238E27FC236}">
                <a16:creationId xmlns:a16="http://schemas.microsoft.com/office/drawing/2014/main" id="{823AC064-BC96-4F32-8AE1-B2FD3875482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ltGray">
          <a:xfrm>
            <a:off x="378068" y="343486"/>
            <a:ext cx="11438793" cy="1844256"/>
          </a:xfrm>
          <a:prstGeom prst="rect">
            <a:avLst/>
          </a:prstGeom>
          <a:solidFill>
            <a:srgbClr val="404040"/>
          </a:solidFill>
          <a:ln w="127000" cap="sq" cmpd="thinThick">
            <a:solidFill>
              <a:srgbClr val="40404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7D10B3C-5E04-AF47-BC01-ED70C02686B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6073" y="466578"/>
            <a:ext cx="11139854" cy="930447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ctr"/>
            <a:r>
              <a:rPr lang="en-US" sz="5400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Instance Sizes</a:t>
            </a:r>
          </a:p>
        </p:txBody>
      </p: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7E7C77BC-7138-40B1-A15B-20F57A49462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2209800" y="1448631"/>
            <a:ext cx="7772400" cy="0"/>
          </a:xfrm>
          <a:prstGeom prst="line">
            <a:avLst/>
          </a:prstGeom>
          <a:ln w="22225">
            <a:solidFill>
              <a:srgbClr val="D9D9D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8" name="Content Placeholder 7">
            <a:extLst>
              <a:ext uri="{FF2B5EF4-FFF2-40B4-BE49-F238E27FC236}">
                <a16:creationId xmlns:a16="http://schemas.microsoft.com/office/drawing/2014/main" id="{A64637DC-B9F5-F24B-97B6-A074F3B8D65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20040" y="2913546"/>
            <a:ext cx="11496821" cy="3190366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DB496606-DB23-05C4-13BC-D7D7BB75ACF6}"/>
              </a:ext>
            </a:extLst>
          </p:cNvPr>
          <p:cNvSpPr txBox="1"/>
          <p:nvPr/>
        </p:nvSpPr>
        <p:spPr>
          <a:xfrm>
            <a:off x="834390" y="6343650"/>
            <a:ext cx="796671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Note: we will use t3.micro, since t2 family is not available under free plan</a:t>
            </a:r>
          </a:p>
        </p:txBody>
      </p:sp>
    </p:spTree>
    <p:extLst>
      <p:ext uri="{BB962C8B-B14F-4D97-AF65-F5344CB8AC3E}">
        <p14:creationId xmlns:p14="http://schemas.microsoft.com/office/powerpoint/2010/main" val="161450212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5308DA-63B9-62A2-6208-9EB939A4A9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Connect To EC2 Linux instance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AF7E0DC-A4CF-E2A3-E1CA-8397720453B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55320" y="1804988"/>
            <a:ext cx="10515600" cy="4351338"/>
          </a:xfrm>
        </p:spPr>
        <p:txBody>
          <a:bodyPr/>
          <a:lstStyle/>
          <a:p>
            <a:pPr marL="0" indent="0">
              <a:buNone/>
            </a:pPr>
            <a:r>
              <a:rPr lang="en-US" dirty="0">
                <a:solidFill>
                  <a:srgbClr val="00B0F0"/>
                </a:solidFill>
              </a:rPr>
              <a:t>SSH</a:t>
            </a:r>
            <a:r>
              <a:rPr lang="en-US" dirty="0"/>
              <a:t> </a:t>
            </a:r>
            <a:r>
              <a:rPr lang="en-US" dirty="0">
                <a:sym typeface="Wingdings" pitchFamily="2" charset="2"/>
              </a:rPr>
              <a:t></a:t>
            </a:r>
            <a:r>
              <a:rPr lang="en-US" dirty="0"/>
              <a:t> Linux, so security group need to enable SSH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r>
              <a:rPr lang="en-US" sz="2000" dirty="0"/>
              <a:t>If you are on a MacOS or Linux, just use Terminal or shell</a:t>
            </a:r>
          </a:p>
          <a:p>
            <a:r>
              <a:rPr lang="en-US" sz="2000" dirty="0"/>
              <a:t>If you are on a Windows, need to install git-shell to have a Linux shell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6DB63C75-BA04-8A0C-045A-7EBB8D8F2AA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02853" y="2385695"/>
            <a:ext cx="8708887" cy="24949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1787430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5308DA-63B9-62A2-6208-9EB939A4A9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Connect To EC2 Windows instance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AF7E0DC-A4CF-E2A3-E1CA-8397720453B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28750"/>
            <a:ext cx="11037570" cy="5280659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>
                <a:solidFill>
                  <a:srgbClr val="00B0F0"/>
                </a:solidFill>
              </a:rPr>
              <a:t>RDP</a:t>
            </a:r>
            <a:r>
              <a:rPr lang="en-US" dirty="0"/>
              <a:t> </a:t>
            </a:r>
            <a:r>
              <a:rPr lang="en-US" dirty="0">
                <a:sym typeface="Wingdings" pitchFamily="2" charset="2"/>
              </a:rPr>
              <a:t> Windows,</a:t>
            </a:r>
            <a:r>
              <a:rPr lang="en-US" dirty="0"/>
              <a:t> so security group need to enable RDP </a:t>
            </a:r>
            <a:endParaRPr lang="en-US" dirty="0">
              <a:sym typeface="Wingdings" pitchFamily="2" charset="2"/>
            </a:endParaRPr>
          </a:p>
          <a:p>
            <a:pPr marL="0" indent="0">
              <a:buNone/>
            </a:pPr>
            <a:endParaRPr lang="en-US" dirty="0">
              <a:sym typeface="Wingdings" pitchFamily="2" charset="2"/>
            </a:endParaRPr>
          </a:p>
          <a:p>
            <a:pPr marL="0" indent="0">
              <a:buNone/>
            </a:pPr>
            <a:endParaRPr lang="en-US" dirty="0">
              <a:sym typeface="Wingdings" pitchFamily="2" charset="2"/>
            </a:endParaRPr>
          </a:p>
          <a:p>
            <a:pPr marL="0" indent="0">
              <a:buNone/>
            </a:pPr>
            <a:endParaRPr lang="en-US" dirty="0">
              <a:sym typeface="Wingdings" pitchFamily="2" charset="2"/>
            </a:endParaRPr>
          </a:p>
          <a:p>
            <a:pPr marL="0" indent="0">
              <a:buNone/>
            </a:pPr>
            <a:endParaRPr lang="en-US" dirty="0">
              <a:sym typeface="Wingdings" pitchFamily="2" charset="2"/>
            </a:endParaRPr>
          </a:p>
          <a:p>
            <a:pPr marL="0" indent="0">
              <a:buNone/>
            </a:pPr>
            <a:endParaRPr lang="en-US" dirty="0">
              <a:sym typeface="Wingdings" pitchFamily="2" charset="2"/>
            </a:endParaRPr>
          </a:p>
          <a:p>
            <a:pPr marL="0" indent="0">
              <a:buNone/>
            </a:pPr>
            <a:r>
              <a:rPr lang="en-US" dirty="0"/>
              <a:t>Need to install an RDP client: (Ref: </a:t>
            </a:r>
            <a:r>
              <a:rPr lang="en-US" dirty="0">
                <a:hlinkClick r:id="rId3"/>
              </a:rPr>
              <a:t>here</a:t>
            </a:r>
            <a:r>
              <a:rPr lang="en-US" dirty="0"/>
              <a:t>)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CA" sz="1700" b="0" i="0" dirty="0">
                <a:solidFill>
                  <a:srgbClr val="16191F"/>
                </a:solidFill>
                <a:effectLst/>
                <a:latin typeface="Amazon Ember"/>
              </a:rPr>
              <a:t>[Windows] Windows includes an RDP client by default. To verify, type </a:t>
            </a:r>
            <a:r>
              <a:rPr lang="en-CA" sz="1700" b="1" i="0" dirty="0" err="1">
                <a:solidFill>
                  <a:srgbClr val="16191F"/>
                </a:solidFill>
                <a:effectLst/>
                <a:latin typeface="Amazon Ember"/>
              </a:rPr>
              <a:t>mstsc</a:t>
            </a:r>
            <a:r>
              <a:rPr lang="en-CA" sz="1700" b="0" i="0" dirty="0">
                <a:solidFill>
                  <a:srgbClr val="16191F"/>
                </a:solidFill>
                <a:effectLst/>
                <a:latin typeface="Amazon Ember"/>
              </a:rPr>
              <a:t> at a Command Prompt window. If your computer doesn't recognize this command, see the </a:t>
            </a:r>
            <a:r>
              <a:rPr lang="en-CA" sz="1700" b="0" i="0" u="none" strike="noStrike" dirty="0">
                <a:solidFill>
                  <a:srgbClr val="16191F"/>
                </a:solidFill>
                <a:effectLst/>
                <a:latin typeface="Amazon Ember"/>
                <a:hlinkClick r:id="rId4"/>
              </a:rPr>
              <a:t>Windows home page</a:t>
            </a:r>
            <a:r>
              <a:rPr lang="en-CA" sz="1700" b="0" i="0" dirty="0">
                <a:solidFill>
                  <a:srgbClr val="16191F"/>
                </a:solidFill>
                <a:effectLst/>
                <a:latin typeface="Amazon Ember"/>
              </a:rPr>
              <a:t> and search for the download for the Microsoft Remote Desktop app.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CA" sz="1700" b="0" i="0" dirty="0">
                <a:solidFill>
                  <a:srgbClr val="16191F"/>
                </a:solidFill>
                <a:effectLst/>
                <a:latin typeface="Amazon Ember"/>
              </a:rPr>
              <a:t>[Mac OS X] Download the </a:t>
            </a:r>
            <a:r>
              <a:rPr lang="en-CA" sz="1700" b="0" i="0" u="none" strike="noStrike" dirty="0">
                <a:solidFill>
                  <a:srgbClr val="16191F"/>
                </a:solidFill>
                <a:effectLst/>
                <a:latin typeface="Amazon Ember"/>
                <a:hlinkClick r:id="rId5"/>
              </a:rPr>
              <a:t>Microsoft Remote Desktop app</a:t>
            </a:r>
            <a:r>
              <a:rPr lang="en-CA" sz="1700" b="0" i="0" dirty="0">
                <a:solidFill>
                  <a:srgbClr val="16191F"/>
                </a:solidFill>
                <a:effectLst/>
                <a:latin typeface="Amazon Ember"/>
              </a:rPr>
              <a:t> from the Mac App Store.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CA" sz="1700" b="0" i="0" dirty="0">
                <a:solidFill>
                  <a:srgbClr val="16191F"/>
                </a:solidFill>
                <a:effectLst/>
                <a:latin typeface="Amazon Ember"/>
              </a:rPr>
              <a:t>[Linux] Use </a:t>
            </a:r>
            <a:r>
              <a:rPr lang="en-CA" sz="1700" b="0" i="0" u="none" strike="noStrike" dirty="0">
                <a:solidFill>
                  <a:srgbClr val="16191F"/>
                </a:solidFill>
                <a:effectLst/>
                <a:latin typeface="Amazon Ember"/>
                <a:hlinkClick r:id="rId6"/>
              </a:rPr>
              <a:t>Remmina</a:t>
            </a:r>
            <a:r>
              <a:rPr lang="en-CA" sz="1700" b="0" i="0" dirty="0">
                <a:solidFill>
                  <a:srgbClr val="16191F"/>
                </a:solidFill>
                <a:effectLst/>
                <a:latin typeface="Amazon Ember"/>
              </a:rPr>
              <a:t>.</a:t>
            </a:r>
          </a:p>
          <a:p>
            <a:pPr marL="0" indent="0">
              <a:buNone/>
            </a:pPr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AFCE9EE2-CACA-3485-E920-377B5DBD5977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375410" y="1931755"/>
            <a:ext cx="8459428" cy="24687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1258242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FFF6B6-1C6E-CF47-19D2-E99F659507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68136" y="948055"/>
            <a:ext cx="5827864" cy="2400935"/>
          </a:xfrm>
        </p:spPr>
        <p:txBody>
          <a:bodyPr>
            <a:normAutofit/>
          </a:bodyPr>
          <a:lstStyle/>
          <a:p>
            <a:r>
              <a:rPr lang="en-US" dirty="0"/>
              <a:t>Key pair (login)</a:t>
            </a:r>
            <a:br>
              <a:rPr lang="en-US" dirty="0"/>
            </a:br>
            <a:r>
              <a:rPr lang="en-US" dirty="0"/>
              <a:t>(Encrypted credentials)</a:t>
            </a:r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DD39132A-A21D-2850-E7A9-E8F597C3F37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68136" y="3348990"/>
            <a:ext cx="5450002" cy="1487646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673F7C8D-67C0-4619-4301-D265FF60411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6000" y="251460"/>
            <a:ext cx="6004560" cy="6309360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D70DDAD1-5D0E-D511-F5F3-ACEBF8D9CA4C}"/>
              </a:ext>
            </a:extLst>
          </p:cNvPr>
          <p:cNvSpPr txBox="1"/>
          <p:nvPr/>
        </p:nvSpPr>
        <p:spPr>
          <a:xfrm>
            <a:off x="457200" y="5097780"/>
            <a:ext cx="5170774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ym typeface="Wingdings" pitchFamily="2" charset="2"/>
              </a:rPr>
              <a:t>How to use .pem file?</a:t>
            </a:r>
          </a:p>
          <a:p>
            <a:endParaRPr lang="en-US" dirty="0">
              <a:sym typeface="Wingdings" pitchFamily="2" charset="2"/>
            </a:endParaRPr>
          </a:p>
          <a:p>
            <a:r>
              <a:rPr lang="en-US" dirty="0">
                <a:sym typeface="Wingdings" pitchFamily="2" charset="2"/>
              </a:rPr>
              <a:t>SSH to Linux: put .pem file in the working folder</a:t>
            </a:r>
          </a:p>
          <a:p>
            <a:r>
              <a:rPr lang="en-US" dirty="0">
                <a:sym typeface="Wingdings" pitchFamily="2" charset="2"/>
              </a:rPr>
              <a:t>RDP to Windows: decrypt .pem file to get a password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7496058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31" name="Rectangle 1030">
            <a:extLst>
              <a:ext uri="{FF2B5EF4-FFF2-40B4-BE49-F238E27FC236}">
                <a16:creationId xmlns:a16="http://schemas.microsoft.com/office/drawing/2014/main" id="{2B97F24A-32CE-4C1C-A50D-3016B394DCF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0FCE848-EF2A-5F2F-555A-9D80E0C194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936" y="639520"/>
            <a:ext cx="3429000" cy="1719072"/>
          </a:xfrm>
        </p:spPr>
        <p:txBody>
          <a:bodyPr anchor="b">
            <a:normAutofit fontScale="90000"/>
          </a:bodyPr>
          <a:lstStyle/>
          <a:p>
            <a:r>
              <a:rPr lang="en-US" sz="5400" dirty="0"/>
              <a:t>EC2 Instance Lifecycle</a:t>
            </a:r>
          </a:p>
        </p:txBody>
      </p:sp>
      <p:sp>
        <p:nvSpPr>
          <p:cNvPr id="1033" name="sketch line">
            <a:extLst>
              <a:ext uri="{FF2B5EF4-FFF2-40B4-BE49-F238E27FC236}">
                <a16:creationId xmlns:a16="http://schemas.microsoft.com/office/drawing/2014/main" id="{6357EC4F-235E-4222-A36F-C7878ACE37F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3278" y="2573756"/>
            <a:ext cx="3255095" cy="18288"/>
          </a:xfrm>
          <a:custGeom>
            <a:avLst/>
            <a:gdLst>
              <a:gd name="connsiteX0" fmla="*/ 0 w 3255095"/>
              <a:gd name="connsiteY0" fmla="*/ 0 h 18288"/>
              <a:gd name="connsiteX1" fmla="*/ 618468 w 3255095"/>
              <a:gd name="connsiteY1" fmla="*/ 0 h 18288"/>
              <a:gd name="connsiteX2" fmla="*/ 1269487 w 3255095"/>
              <a:gd name="connsiteY2" fmla="*/ 0 h 18288"/>
              <a:gd name="connsiteX3" fmla="*/ 1953057 w 3255095"/>
              <a:gd name="connsiteY3" fmla="*/ 0 h 18288"/>
              <a:gd name="connsiteX4" fmla="*/ 2636627 w 3255095"/>
              <a:gd name="connsiteY4" fmla="*/ 0 h 18288"/>
              <a:gd name="connsiteX5" fmla="*/ 3255095 w 3255095"/>
              <a:gd name="connsiteY5" fmla="*/ 0 h 18288"/>
              <a:gd name="connsiteX6" fmla="*/ 3255095 w 3255095"/>
              <a:gd name="connsiteY6" fmla="*/ 18288 h 18288"/>
              <a:gd name="connsiteX7" fmla="*/ 2538974 w 3255095"/>
              <a:gd name="connsiteY7" fmla="*/ 18288 h 18288"/>
              <a:gd name="connsiteX8" fmla="*/ 1822853 w 3255095"/>
              <a:gd name="connsiteY8" fmla="*/ 18288 h 18288"/>
              <a:gd name="connsiteX9" fmla="*/ 1171834 w 3255095"/>
              <a:gd name="connsiteY9" fmla="*/ 18288 h 18288"/>
              <a:gd name="connsiteX10" fmla="*/ 0 w 3255095"/>
              <a:gd name="connsiteY10" fmla="*/ 18288 h 18288"/>
              <a:gd name="connsiteX11" fmla="*/ 0 w 3255095"/>
              <a:gd name="connsiteY11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3255095" h="18288" fill="none" extrusionOk="0">
                <a:moveTo>
                  <a:pt x="0" y="0"/>
                </a:moveTo>
                <a:cubicBezTo>
                  <a:pt x="240201" y="-22123"/>
                  <a:pt x="462021" y="-19623"/>
                  <a:pt x="618468" y="0"/>
                </a:cubicBezTo>
                <a:cubicBezTo>
                  <a:pt x="774915" y="19623"/>
                  <a:pt x="974734" y="2035"/>
                  <a:pt x="1269487" y="0"/>
                </a:cubicBezTo>
                <a:cubicBezTo>
                  <a:pt x="1564240" y="-2035"/>
                  <a:pt x="1733579" y="10639"/>
                  <a:pt x="1953057" y="0"/>
                </a:cubicBezTo>
                <a:cubicBezTo>
                  <a:pt x="2172535" y="-10639"/>
                  <a:pt x="2453962" y="14018"/>
                  <a:pt x="2636627" y="0"/>
                </a:cubicBezTo>
                <a:cubicBezTo>
                  <a:pt x="2819292" y="-14018"/>
                  <a:pt x="3121375" y="5399"/>
                  <a:pt x="3255095" y="0"/>
                </a:cubicBezTo>
                <a:cubicBezTo>
                  <a:pt x="3254386" y="8157"/>
                  <a:pt x="3254682" y="12125"/>
                  <a:pt x="3255095" y="18288"/>
                </a:cubicBezTo>
                <a:cubicBezTo>
                  <a:pt x="3088545" y="23203"/>
                  <a:pt x="2687475" y="7419"/>
                  <a:pt x="2538974" y="18288"/>
                </a:cubicBezTo>
                <a:cubicBezTo>
                  <a:pt x="2390473" y="29157"/>
                  <a:pt x="2137381" y="-8959"/>
                  <a:pt x="1822853" y="18288"/>
                </a:cubicBezTo>
                <a:cubicBezTo>
                  <a:pt x="1508325" y="45535"/>
                  <a:pt x="1466437" y="20385"/>
                  <a:pt x="1171834" y="18288"/>
                </a:cubicBezTo>
                <a:cubicBezTo>
                  <a:pt x="877231" y="16191"/>
                  <a:pt x="561097" y="37643"/>
                  <a:pt x="0" y="18288"/>
                </a:cubicBezTo>
                <a:cubicBezTo>
                  <a:pt x="-46" y="12483"/>
                  <a:pt x="-203" y="6491"/>
                  <a:pt x="0" y="0"/>
                </a:cubicBezTo>
                <a:close/>
              </a:path>
              <a:path w="3255095" h="18288" stroke="0" extrusionOk="0">
                <a:moveTo>
                  <a:pt x="0" y="0"/>
                </a:moveTo>
                <a:cubicBezTo>
                  <a:pt x="291965" y="19429"/>
                  <a:pt x="363155" y="8568"/>
                  <a:pt x="618468" y="0"/>
                </a:cubicBezTo>
                <a:cubicBezTo>
                  <a:pt x="873781" y="-8568"/>
                  <a:pt x="904459" y="-19505"/>
                  <a:pt x="1171834" y="0"/>
                </a:cubicBezTo>
                <a:cubicBezTo>
                  <a:pt x="1439209" y="19505"/>
                  <a:pt x="1744369" y="9790"/>
                  <a:pt x="1887955" y="0"/>
                </a:cubicBezTo>
                <a:cubicBezTo>
                  <a:pt x="2031541" y="-9790"/>
                  <a:pt x="2346378" y="21240"/>
                  <a:pt x="2506423" y="0"/>
                </a:cubicBezTo>
                <a:cubicBezTo>
                  <a:pt x="2666468" y="-21240"/>
                  <a:pt x="2990257" y="30414"/>
                  <a:pt x="3255095" y="0"/>
                </a:cubicBezTo>
                <a:cubicBezTo>
                  <a:pt x="3254831" y="4493"/>
                  <a:pt x="3255479" y="9472"/>
                  <a:pt x="3255095" y="18288"/>
                </a:cubicBezTo>
                <a:cubicBezTo>
                  <a:pt x="3120743" y="16690"/>
                  <a:pt x="2759628" y="42462"/>
                  <a:pt x="2604076" y="18288"/>
                </a:cubicBezTo>
                <a:cubicBezTo>
                  <a:pt x="2448524" y="-5886"/>
                  <a:pt x="2184336" y="19599"/>
                  <a:pt x="1887955" y="18288"/>
                </a:cubicBezTo>
                <a:cubicBezTo>
                  <a:pt x="1591574" y="16977"/>
                  <a:pt x="1548845" y="6870"/>
                  <a:pt x="1334589" y="18288"/>
                </a:cubicBezTo>
                <a:cubicBezTo>
                  <a:pt x="1120333" y="29706"/>
                  <a:pt x="996014" y="9662"/>
                  <a:pt x="683570" y="18288"/>
                </a:cubicBezTo>
                <a:cubicBezTo>
                  <a:pt x="371126" y="26914"/>
                  <a:pt x="198687" y="16167"/>
                  <a:pt x="0" y="18288"/>
                </a:cubicBezTo>
                <a:cubicBezTo>
                  <a:pt x="843" y="9577"/>
                  <a:pt x="371" y="6900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38100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5A67C8F-1F42-6096-AF9E-BF3CEE88D22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30936" y="2807208"/>
            <a:ext cx="3429000" cy="3410712"/>
          </a:xfrm>
        </p:spPr>
        <p:txBody>
          <a:bodyPr anchor="t">
            <a:normAutofit/>
          </a:bodyPr>
          <a:lstStyle/>
          <a:p>
            <a:pPr marL="0" indent="0">
              <a:buNone/>
            </a:pPr>
            <a:r>
              <a:rPr lang="en-CA" sz="2200" b="0" i="0" dirty="0">
                <a:effectLst/>
                <a:latin typeface="Amazon Ember"/>
              </a:rPr>
              <a:t>An Amazon EC2 instance transitions through different states from the moment you launch it through to its termination.</a:t>
            </a:r>
          </a:p>
          <a:p>
            <a:pPr marL="0" indent="0">
              <a:buNone/>
            </a:pPr>
            <a:endParaRPr lang="en-CA" sz="2200" dirty="0">
              <a:latin typeface="Amazon Ember"/>
            </a:endParaRPr>
          </a:p>
          <a:p>
            <a:pPr marL="0" indent="0">
              <a:buNone/>
            </a:pPr>
            <a:endParaRPr lang="en-CA" sz="2200" dirty="0">
              <a:latin typeface="Amazon Ember"/>
            </a:endParaRPr>
          </a:p>
          <a:p>
            <a:pPr marL="0" indent="0">
              <a:buNone/>
            </a:pPr>
            <a:r>
              <a:rPr lang="en-CA" sz="2200" dirty="0">
                <a:latin typeface="Amazon Ember"/>
              </a:rPr>
              <a:t>Read more </a:t>
            </a:r>
            <a:r>
              <a:rPr lang="en-CA" sz="2200" dirty="0">
                <a:latin typeface="Amazon Ember"/>
                <a:hlinkClick r:id="rId2"/>
              </a:rPr>
              <a:t>here</a:t>
            </a:r>
            <a:endParaRPr lang="en-US" sz="2200" dirty="0"/>
          </a:p>
        </p:txBody>
      </p:sp>
      <p:pic>
        <p:nvPicPr>
          <p:cNvPr id="1026" name="Picture 2" descr="&#10;        The instance lifecycle.&#10;      ">
            <a:extLst>
              <a:ext uri="{FF2B5EF4-FFF2-40B4-BE49-F238E27FC236}">
                <a16:creationId xmlns:a16="http://schemas.microsoft.com/office/drawing/2014/main" id="{D445C82E-1257-FE10-7C84-C631B034774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4654296" y="926748"/>
            <a:ext cx="6903720" cy="500450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07308623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6753252F-4873-4F63-801D-CC719279A7D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047C8CCB-F95D-4249-92DD-651249D3535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2013557" cy="6858000"/>
          </a:xfrm>
          <a:prstGeom prst="rect">
            <a:avLst/>
          </a:prstGeom>
          <a:solidFill>
            <a:srgbClr val="7F7F7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81C5085-C7E6-A3BF-002C-3DDC8A9A6B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" y="2074363"/>
            <a:ext cx="2752354" cy="2709275"/>
          </a:xfrm>
          <a:prstGeom prst="ellipse">
            <a:avLst/>
          </a:prstGeom>
          <a:solidFill>
            <a:srgbClr val="262626"/>
          </a:solidFill>
          <a:ln w="174625" cmpd="thinThick">
            <a:solidFill>
              <a:srgbClr val="262626"/>
            </a:solidFill>
          </a:ln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en-US" sz="2600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Free Tier Eligible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9CD90507-57D8-39DE-DC2C-2FA998403E1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42030" y="1441477"/>
            <a:ext cx="7772400" cy="1924476"/>
          </a:xfrm>
          <a:prstGeom prst="rect">
            <a:avLst/>
          </a:prstGeom>
        </p:spPr>
      </p:pic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682A77F7-F481-51CC-E812-36782AB3FF20}"/>
              </a:ext>
            </a:extLst>
          </p:cNvPr>
          <p:cNvCxnSpPr>
            <a:cxnSpLocks/>
          </p:cNvCxnSpPr>
          <p:nvPr/>
        </p:nvCxnSpPr>
        <p:spPr>
          <a:xfrm flipH="1">
            <a:off x="10389870" y="1832864"/>
            <a:ext cx="922020" cy="391386"/>
          </a:xfrm>
          <a:prstGeom prst="straightConnector1">
            <a:avLst/>
          </a:prstGeom>
          <a:ln w="508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799BD516-C453-01BE-8076-B322CA0F103A}"/>
              </a:ext>
            </a:extLst>
          </p:cNvPr>
          <p:cNvCxnSpPr>
            <a:cxnSpLocks/>
          </p:cNvCxnSpPr>
          <p:nvPr/>
        </p:nvCxnSpPr>
        <p:spPr>
          <a:xfrm flipH="1">
            <a:off x="4459897" y="2028557"/>
            <a:ext cx="980783" cy="270415"/>
          </a:xfrm>
          <a:prstGeom prst="straightConnector1">
            <a:avLst/>
          </a:prstGeom>
          <a:ln w="508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5" name="Picture 14">
            <a:extLst>
              <a:ext uri="{FF2B5EF4-FFF2-40B4-BE49-F238E27FC236}">
                <a16:creationId xmlns:a16="http://schemas.microsoft.com/office/drawing/2014/main" id="{3C3C436D-2AD0-D2BF-3E39-BBD76FC1A20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03693" y="4694621"/>
            <a:ext cx="8871933" cy="1126197"/>
          </a:xfrm>
          <a:prstGeom prst="rect">
            <a:avLst/>
          </a:prstGeom>
        </p:spPr>
      </p:pic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69C13C04-D093-7F9D-6102-EB6028C46285}"/>
              </a:ext>
            </a:extLst>
          </p:cNvPr>
          <p:cNvCxnSpPr>
            <a:cxnSpLocks/>
          </p:cNvCxnSpPr>
          <p:nvPr/>
        </p:nvCxnSpPr>
        <p:spPr>
          <a:xfrm flipH="1">
            <a:off x="10629900" y="4694621"/>
            <a:ext cx="922020" cy="391386"/>
          </a:xfrm>
          <a:prstGeom prst="straightConnector1">
            <a:avLst/>
          </a:prstGeom>
          <a:ln w="508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46636118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7" name="Rectangle 26">
            <a:extLst>
              <a:ext uri="{FF2B5EF4-FFF2-40B4-BE49-F238E27FC236}">
                <a16:creationId xmlns:a16="http://schemas.microsoft.com/office/drawing/2014/main" id="{9B7AD9F6-8CE7-4299-8FC6-328F4DCD3FF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16CCC63-06D1-A640-A900-E2C29707CC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90338" y="640080"/>
            <a:ext cx="3734014" cy="3566160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5400"/>
              <a:t>Lab Time</a:t>
            </a:r>
          </a:p>
        </p:txBody>
      </p:sp>
      <p:sp>
        <p:nvSpPr>
          <p:cNvPr id="29" name="sketchy line">
            <a:extLst>
              <a:ext uri="{FF2B5EF4-FFF2-40B4-BE49-F238E27FC236}">
                <a16:creationId xmlns:a16="http://schemas.microsoft.com/office/drawing/2014/main" id="{F49775AF-8896-43EE-92C6-83497D6DC56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90338" y="4409267"/>
            <a:ext cx="3474720" cy="18288"/>
          </a:xfrm>
          <a:custGeom>
            <a:avLst/>
            <a:gdLst>
              <a:gd name="connsiteX0" fmla="*/ 0 w 3474720"/>
              <a:gd name="connsiteY0" fmla="*/ 0 h 18288"/>
              <a:gd name="connsiteX1" fmla="*/ 694944 w 3474720"/>
              <a:gd name="connsiteY1" fmla="*/ 0 h 18288"/>
              <a:gd name="connsiteX2" fmla="*/ 1355141 w 3474720"/>
              <a:gd name="connsiteY2" fmla="*/ 0 h 18288"/>
              <a:gd name="connsiteX3" fmla="*/ 2015338 w 3474720"/>
              <a:gd name="connsiteY3" fmla="*/ 0 h 18288"/>
              <a:gd name="connsiteX4" fmla="*/ 2779776 w 3474720"/>
              <a:gd name="connsiteY4" fmla="*/ 0 h 18288"/>
              <a:gd name="connsiteX5" fmla="*/ 3474720 w 3474720"/>
              <a:gd name="connsiteY5" fmla="*/ 0 h 18288"/>
              <a:gd name="connsiteX6" fmla="*/ 3474720 w 3474720"/>
              <a:gd name="connsiteY6" fmla="*/ 18288 h 18288"/>
              <a:gd name="connsiteX7" fmla="*/ 2779776 w 3474720"/>
              <a:gd name="connsiteY7" fmla="*/ 18288 h 18288"/>
              <a:gd name="connsiteX8" fmla="*/ 2189074 w 3474720"/>
              <a:gd name="connsiteY8" fmla="*/ 18288 h 18288"/>
              <a:gd name="connsiteX9" fmla="*/ 1528877 w 3474720"/>
              <a:gd name="connsiteY9" fmla="*/ 18288 h 18288"/>
              <a:gd name="connsiteX10" fmla="*/ 868680 w 3474720"/>
              <a:gd name="connsiteY10" fmla="*/ 18288 h 18288"/>
              <a:gd name="connsiteX11" fmla="*/ 0 w 3474720"/>
              <a:gd name="connsiteY11" fmla="*/ 18288 h 18288"/>
              <a:gd name="connsiteX12" fmla="*/ 0 w 3474720"/>
              <a:gd name="connsiteY12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3474720" h="18288" fill="none" extrusionOk="0">
                <a:moveTo>
                  <a:pt x="0" y="0"/>
                </a:moveTo>
                <a:cubicBezTo>
                  <a:pt x="224454" y="-14544"/>
                  <a:pt x="495407" y="26540"/>
                  <a:pt x="694944" y="0"/>
                </a:cubicBezTo>
                <a:cubicBezTo>
                  <a:pt x="894481" y="-26540"/>
                  <a:pt x="1130063" y="24713"/>
                  <a:pt x="1355141" y="0"/>
                </a:cubicBezTo>
                <a:cubicBezTo>
                  <a:pt x="1580219" y="-24713"/>
                  <a:pt x="1820099" y="26695"/>
                  <a:pt x="2015338" y="0"/>
                </a:cubicBezTo>
                <a:cubicBezTo>
                  <a:pt x="2210577" y="-26695"/>
                  <a:pt x="2402045" y="165"/>
                  <a:pt x="2779776" y="0"/>
                </a:cubicBezTo>
                <a:cubicBezTo>
                  <a:pt x="3157507" y="-165"/>
                  <a:pt x="3286859" y="-15571"/>
                  <a:pt x="3474720" y="0"/>
                </a:cubicBezTo>
                <a:cubicBezTo>
                  <a:pt x="3474286" y="7551"/>
                  <a:pt x="3474253" y="9822"/>
                  <a:pt x="3474720" y="18288"/>
                </a:cubicBezTo>
                <a:cubicBezTo>
                  <a:pt x="3233904" y="29845"/>
                  <a:pt x="2945134" y="-5256"/>
                  <a:pt x="2779776" y="18288"/>
                </a:cubicBezTo>
                <a:cubicBezTo>
                  <a:pt x="2614418" y="41832"/>
                  <a:pt x="2339768" y="22709"/>
                  <a:pt x="2189074" y="18288"/>
                </a:cubicBezTo>
                <a:cubicBezTo>
                  <a:pt x="2038380" y="13867"/>
                  <a:pt x="1817434" y="-4947"/>
                  <a:pt x="1528877" y="18288"/>
                </a:cubicBezTo>
                <a:cubicBezTo>
                  <a:pt x="1240320" y="41523"/>
                  <a:pt x="1042447" y="37198"/>
                  <a:pt x="868680" y="18288"/>
                </a:cubicBezTo>
                <a:cubicBezTo>
                  <a:pt x="694913" y="-622"/>
                  <a:pt x="233232" y="44909"/>
                  <a:pt x="0" y="18288"/>
                </a:cubicBezTo>
                <a:cubicBezTo>
                  <a:pt x="60" y="11696"/>
                  <a:pt x="66" y="3758"/>
                  <a:pt x="0" y="0"/>
                </a:cubicBezTo>
                <a:close/>
              </a:path>
              <a:path w="3474720" h="18288" stroke="0" extrusionOk="0">
                <a:moveTo>
                  <a:pt x="0" y="0"/>
                </a:moveTo>
                <a:cubicBezTo>
                  <a:pt x="202328" y="-14716"/>
                  <a:pt x="332722" y="-11499"/>
                  <a:pt x="625450" y="0"/>
                </a:cubicBezTo>
                <a:cubicBezTo>
                  <a:pt x="918178" y="11499"/>
                  <a:pt x="1096688" y="5123"/>
                  <a:pt x="1389888" y="0"/>
                </a:cubicBezTo>
                <a:cubicBezTo>
                  <a:pt x="1683088" y="-5123"/>
                  <a:pt x="1835981" y="-14038"/>
                  <a:pt x="1980590" y="0"/>
                </a:cubicBezTo>
                <a:cubicBezTo>
                  <a:pt x="2125199" y="14038"/>
                  <a:pt x="2396099" y="-7203"/>
                  <a:pt x="2571293" y="0"/>
                </a:cubicBezTo>
                <a:cubicBezTo>
                  <a:pt x="2746487" y="7203"/>
                  <a:pt x="3041609" y="-12036"/>
                  <a:pt x="3474720" y="0"/>
                </a:cubicBezTo>
                <a:cubicBezTo>
                  <a:pt x="3474638" y="4406"/>
                  <a:pt x="3474631" y="9982"/>
                  <a:pt x="3474720" y="18288"/>
                </a:cubicBezTo>
                <a:cubicBezTo>
                  <a:pt x="3324873" y="21876"/>
                  <a:pt x="3136771" y="12587"/>
                  <a:pt x="2814523" y="18288"/>
                </a:cubicBezTo>
                <a:cubicBezTo>
                  <a:pt x="2492275" y="23989"/>
                  <a:pt x="2294402" y="47111"/>
                  <a:pt x="2154326" y="18288"/>
                </a:cubicBezTo>
                <a:cubicBezTo>
                  <a:pt x="2014250" y="-10535"/>
                  <a:pt x="1820317" y="33903"/>
                  <a:pt x="1494130" y="18288"/>
                </a:cubicBezTo>
                <a:cubicBezTo>
                  <a:pt x="1167943" y="2673"/>
                  <a:pt x="948432" y="14868"/>
                  <a:pt x="729691" y="18288"/>
                </a:cubicBezTo>
                <a:cubicBezTo>
                  <a:pt x="510950" y="21708"/>
                  <a:pt x="264032" y="24354"/>
                  <a:pt x="0" y="18288"/>
                </a:cubicBezTo>
                <a:cubicBezTo>
                  <a:pt x="189" y="14288"/>
                  <a:pt x="-703" y="3747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4450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2863741219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Picture 4" descr="Programming data on computer monitor">
            <a:extLst>
              <a:ext uri="{FF2B5EF4-FFF2-40B4-BE49-F238E27FC236}">
                <a16:creationId xmlns:a16="http://schemas.microsoft.com/office/drawing/2014/main" id="{51BC2F7D-DEBC-4876-A2DC-87FCEAF08C3F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21497" r="11550" b="-1"/>
          <a:stretch/>
        </p:blipFill>
        <p:spPr>
          <a:xfrm>
            <a:off x="5311702" y="10"/>
            <a:ext cx="6878775" cy="6857990"/>
          </a:xfrm>
          <a:custGeom>
            <a:avLst/>
            <a:gdLst/>
            <a:ahLst/>
            <a:cxnLst/>
            <a:rect l="l" t="t" r="r" b="b"/>
            <a:pathLst>
              <a:path w="6878775" h="6858000">
                <a:moveTo>
                  <a:pt x="1102973" y="0"/>
                </a:moveTo>
                <a:lnTo>
                  <a:pt x="1160688" y="0"/>
                </a:lnTo>
                <a:lnTo>
                  <a:pt x="983189" y="331786"/>
                </a:lnTo>
                <a:cubicBezTo>
                  <a:pt x="914866" y="469145"/>
                  <a:pt x="850355" y="608712"/>
                  <a:pt x="789261" y="750263"/>
                </a:cubicBezTo>
                <a:cubicBezTo>
                  <a:pt x="774307" y="784928"/>
                  <a:pt x="759992" y="819849"/>
                  <a:pt x="745295" y="854514"/>
                </a:cubicBezTo>
                <a:cubicBezTo>
                  <a:pt x="756682" y="845393"/>
                  <a:pt x="765489" y="833492"/>
                  <a:pt x="770857" y="819975"/>
                </a:cubicBezTo>
                <a:cubicBezTo>
                  <a:pt x="879943" y="589569"/>
                  <a:pt x="999605" y="365513"/>
                  <a:pt x="1131329" y="148742"/>
                </a:cubicBezTo>
                <a:lnTo>
                  <a:pt x="1227589" y="0"/>
                </a:lnTo>
                <a:lnTo>
                  <a:pt x="6878775" y="0"/>
                </a:lnTo>
                <a:lnTo>
                  <a:pt x="6878775" y="6858000"/>
                </a:lnTo>
                <a:lnTo>
                  <a:pt x="713521" y="6858000"/>
                </a:lnTo>
                <a:lnTo>
                  <a:pt x="625642" y="6670527"/>
                </a:lnTo>
                <a:cubicBezTo>
                  <a:pt x="507232" y="6398531"/>
                  <a:pt x="403083" y="6118381"/>
                  <a:pt x="312785" y="5830359"/>
                </a:cubicBezTo>
                <a:cubicBezTo>
                  <a:pt x="278149" y="5719759"/>
                  <a:pt x="248879" y="5607635"/>
                  <a:pt x="212198" y="5480401"/>
                </a:cubicBezTo>
                <a:cubicBezTo>
                  <a:pt x="212208" y="5491601"/>
                  <a:pt x="212803" y="5502788"/>
                  <a:pt x="213988" y="5513923"/>
                </a:cubicBezTo>
                <a:cubicBezTo>
                  <a:pt x="264089" y="5723695"/>
                  <a:pt x="307290" y="5935370"/>
                  <a:pt x="365826" y="6142729"/>
                </a:cubicBezTo>
                <a:cubicBezTo>
                  <a:pt x="433152" y="6380817"/>
                  <a:pt x="510068" y="6614016"/>
                  <a:pt x="597975" y="6841549"/>
                </a:cubicBezTo>
                <a:lnTo>
                  <a:pt x="604824" y="6858000"/>
                </a:lnTo>
                <a:lnTo>
                  <a:pt x="552056" y="6858000"/>
                </a:lnTo>
                <a:lnTo>
                  <a:pt x="539576" y="6828295"/>
                </a:lnTo>
                <a:cubicBezTo>
                  <a:pt x="380597" y="6414594"/>
                  <a:pt x="260223" y="5988893"/>
                  <a:pt x="171555" y="5552906"/>
                </a:cubicBezTo>
                <a:cubicBezTo>
                  <a:pt x="91163" y="5157998"/>
                  <a:pt x="43746" y="4758899"/>
                  <a:pt x="12305" y="4357388"/>
                </a:cubicBezTo>
                <a:cubicBezTo>
                  <a:pt x="-14281" y="4013908"/>
                  <a:pt x="4507" y="3672965"/>
                  <a:pt x="46684" y="3331516"/>
                </a:cubicBezTo>
                <a:cubicBezTo>
                  <a:pt x="127203" y="2664286"/>
                  <a:pt x="277819" y="2007265"/>
                  <a:pt x="496065" y="1371196"/>
                </a:cubicBezTo>
                <a:cubicBezTo>
                  <a:pt x="636273" y="966066"/>
                  <a:pt x="800445" y="573253"/>
                  <a:pt x="995723" y="196614"/>
                </a:cubicBezTo>
                <a:close/>
              </a:path>
            </a:pathLst>
          </a:custGeom>
        </p:spPr>
      </p:pic>
    </p:spTree>
    <p:extLst>
      <p:ext uri="{BB962C8B-B14F-4D97-AF65-F5344CB8AC3E}">
        <p14:creationId xmlns:p14="http://schemas.microsoft.com/office/powerpoint/2010/main" val="263395814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1D9A78"/>
      </a:accent1>
      <a:accent2>
        <a:srgbClr val="8BC145"/>
      </a:accent2>
      <a:accent3>
        <a:srgbClr val="36AFCE"/>
      </a:accent3>
      <a:accent4>
        <a:srgbClr val="1D6FA9"/>
      </a:accent4>
      <a:accent5>
        <a:srgbClr val="B74919"/>
      </a:accent5>
      <a:accent6>
        <a:srgbClr val="F19D19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AE6F2518-B084-4896-AF52-66CC2144AA26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1850</TotalTime>
  <Words>529</Words>
  <Application>Microsoft Macintosh PowerPoint</Application>
  <PresentationFormat>Widescreen</PresentationFormat>
  <Paragraphs>76</Paragraphs>
  <Slides>16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2" baseType="lpstr">
      <vt:lpstr>Amazon Ember</vt:lpstr>
      <vt:lpstr>Arial</vt:lpstr>
      <vt:lpstr>Calibri</vt:lpstr>
      <vt:lpstr>Calibri Light</vt:lpstr>
      <vt:lpstr>Wingdings</vt:lpstr>
      <vt:lpstr>Office Theme</vt:lpstr>
      <vt:lpstr>PowerPoint Presentation</vt:lpstr>
      <vt:lpstr>On-Demand Instances</vt:lpstr>
      <vt:lpstr>PowerPoint Presentation</vt:lpstr>
      <vt:lpstr>Commonly Used OS </vt:lpstr>
      <vt:lpstr>Key Concepts</vt:lpstr>
      <vt:lpstr>Availability Zones</vt:lpstr>
      <vt:lpstr>Availability Zones</vt:lpstr>
      <vt:lpstr>Instance Types</vt:lpstr>
      <vt:lpstr>Instance Families</vt:lpstr>
      <vt:lpstr>Instance Sizes</vt:lpstr>
      <vt:lpstr>Connect To EC2 Linux instance</vt:lpstr>
      <vt:lpstr>Connect To EC2 Windows instance</vt:lpstr>
      <vt:lpstr>Key pair (login) (Encrypted credentials)</vt:lpstr>
      <vt:lpstr>EC2 Instance Lifecycle</vt:lpstr>
      <vt:lpstr>Free Tier Eligible</vt:lpstr>
      <vt:lpstr>Lab Time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Frederic Guo</dc:creator>
  <cp:lastModifiedBy>Frederic Guo</cp:lastModifiedBy>
  <cp:revision>71</cp:revision>
  <dcterms:created xsi:type="dcterms:W3CDTF">2021-12-25T17:11:56Z</dcterms:created>
  <dcterms:modified xsi:type="dcterms:W3CDTF">2025-09-07T07:34:42Z</dcterms:modified>
</cp:coreProperties>
</file>